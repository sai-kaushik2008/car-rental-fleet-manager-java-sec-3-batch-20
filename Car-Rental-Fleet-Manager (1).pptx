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embeddedFontLst>
    <p:embeddedFont>
      <p:font typeface="Barlow SemiBold"/>
      <p:regular r:id="rId201314"/>
    </p:embeddedFont>
    <p:embeddedFont>
      <p:font typeface="Barlow"/>
      <p:regular r:id="rId201315"/>
    </p:embeddedFont>
    <p:embeddedFont>
      <p:font typeface="Barlow Bold"/>
      <p:regular r:id="rId201316"/>
    </p:embeddedFont>
    <p:embeddedFont>
      <p:font typeface="Bebas Neue"/>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walks through our Car Rental Fleet Manager, demonstrating how six curriculum units connect into one complete production Java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how every learning outcome contributes a tangible feature to the manager instead of remaining an isolated code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CO1 introduces fundamentals through a concrete deliverable: generating a printed invoice from user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CO2 implements system decision-making: validating driver age, selecting vehicle tiers, and driving the interactive console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transition from single-vehicle scripts to managing collections of cars using structured 1D arrays and clean utility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CO4 shifts our mindset from procedural arrays to domain modeling, encapsulating state and operations within individual Car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how OOP principles let our fleet scale: adding electric cars or cargo vans requires zero changes to core rental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CO6 provides enterprise capability: dynamic collections, concise functional data manipulation, and persistent disk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complete data path: input intake moves to object models, which feed stream pipelines and file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presentation, thank the panel and professors, and invite questions along with opening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5181D"/>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15181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5181D">
              <a:alpha val="72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5181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15181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sai-kaushik2008" TargetMode="External"/><Relationship Id="rId2" Type="http://schemas.openxmlformats.org/officeDocument/2006/relationships/hyperlink" Target="https://github.com/Vijaykumar-2008" TargetMode="External"/><Relationship Id="rId3" Type="http://schemas.openxmlformats.org/officeDocument/2006/relationships/hyperlink" Target="https://github.com/arigalavaibhav-stack" TargetMode="External"/><Relationship Id="rId4" Type="http://schemas.openxmlformats.org/officeDocument/2006/relationships/image" Target="../media/image-12-1.jpe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689458" cy="6858000"/>
          </a:xfrm>
          <a:prstGeom prst="rect">
            <a:avLst/>
          </a:prstGeom>
          <a:solidFill>
            <a:srgbClr val="1F242B"/>
          </a:solidFill>
          <a:ln/>
        </p:spPr>
      </p:sp>
      <p:sp>
        <p:nvSpPr>
          <p:cNvPr id="3" name="Text 1"/>
          <p:cNvSpPr/>
          <p:nvPr/>
        </p:nvSpPr>
        <p:spPr>
          <a:xfrm>
            <a:off x="609585" y="415860"/>
            <a:ext cx="5079873" cy="171648"/>
          </a:xfrm>
          <a:prstGeom prst="rect">
            <a:avLst/>
          </a:prstGeom>
          <a:noFill/>
          <a:ln/>
        </p:spPr>
        <p:txBody>
          <a:bodyPr wrap="none" lIns="0" tIns="0" rIns="0" bIns="0" rtlCol="0" anchor="t"/>
          <a:lstStyle/>
          <a:p>
            <a:pPr algn="l" indent="0" marL="0">
              <a:lnSpc>
                <a:spcPct val="106000"/>
              </a:lnSpc>
              <a:buNone/>
            </a:pPr>
            <a:r>
              <a:rPr lang="en-US" sz="1050" spc="149" kern="100" dirty="0">
                <a:solidFill>
                  <a:srgbClr val="E3E3DE"/>
                </a:solidFill>
                <a:latin typeface="Barlow" pitchFamily="34" charset="0"/>
                <a:ea typeface="Barlow" pitchFamily="34" charset="-122"/>
                <a:cs typeface="Barlow" pitchFamily="34" charset="-120"/>
              </a:rPr>
              <a:t>JAVA PROJECT</a:t>
            </a:r>
            <a:endParaRPr lang="en-US" sz="1050" dirty="0"/>
          </a:p>
        </p:txBody>
      </p:sp>
      <p:sp>
        <p:nvSpPr>
          <p:cNvPr id="4" name="Text 2"/>
          <p:cNvSpPr/>
          <p:nvPr/>
        </p:nvSpPr>
        <p:spPr>
          <a:xfrm>
            <a:off x="609585" y="884136"/>
            <a:ext cx="4622684" cy="2740819"/>
          </a:xfrm>
          <a:prstGeom prst="rect">
            <a:avLst/>
          </a:prstGeom>
          <a:noFill/>
          <a:ln/>
        </p:spPr>
        <p:txBody>
          <a:bodyPr wrap="square" lIns="0" tIns="0" rIns="0" bIns="0" rtlCol="0" anchor="t">
            <a:normAutofit/>
          </a:bodyPr>
          <a:lstStyle/>
          <a:p>
            <a:pPr algn="l" indent="0" marL="0">
              <a:lnSpc>
                <a:spcPct val="83000"/>
              </a:lnSpc>
              <a:buNone/>
            </a:pPr>
            <a:r>
              <a:rPr lang="en-US" sz="7200" spc="288" kern="100" dirty="0">
                <a:solidFill>
                  <a:srgbClr val="E3E3DE"/>
                </a:solidFill>
                <a:latin typeface="Bebas Neue" pitchFamily="34" charset="0"/>
                <a:ea typeface="Bebas Neue" pitchFamily="34" charset="-122"/>
                <a:cs typeface="Bebas Neue" pitchFamily="34" charset="-120"/>
              </a:rPr>
              <a:t>CAR RENTAL</a:t>
            </a:r>
            <a:endParaRPr lang="en-US" sz="7200" dirty="0"/>
          </a:p>
          <a:p>
            <a:pPr algn="l" indent="0" marL="0">
              <a:lnSpc>
                <a:spcPct val="83000"/>
              </a:lnSpc>
              <a:buNone/>
            </a:pPr>
            <a:r>
              <a:rPr lang="en-US" sz="7200" spc="288" kern="100" dirty="0">
                <a:solidFill>
                  <a:srgbClr val="E3E3DE"/>
                </a:solidFill>
                <a:latin typeface="Bebas Neue" pitchFamily="34" charset="0"/>
                <a:ea typeface="Bebas Neue" pitchFamily="34" charset="-122"/>
                <a:cs typeface="Bebas Neue" pitchFamily="34" charset="-120"/>
              </a:rPr>
              <a:t>FLEET MANAGER</a:t>
            </a:r>
            <a:endParaRPr lang="en-US" sz="7200" dirty="0"/>
          </a:p>
        </p:txBody>
      </p:sp>
      <p:sp>
        <p:nvSpPr>
          <p:cNvPr id="5" name="Shape 3"/>
          <p:cNvSpPr/>
          <p:nvPr/>
        </p:nvSpPr>
        <p:spPr>
          <a:xfrm>
            <a:off x="609585" y="3734594"/>
            <a:ext cx="4622684" cy="25400"/>
          </a:xfrm>
          <a:prstGeom prst="rect">
            <a:avLst/>
          </a:prstGeom>
          <a:solidFill>
            <a:srgbClr val="FFC20E"/>
          </a:solidFill>
          <a:ln/>
        </p:spPr>
      </p:sp>
      <p:sp>
        <p:nvSpPr>
          <p:cNvPr id="6" name="Shape 4"/>
          <p:cNvSpPr/>
          <p:nvPr/>
        </p:nvSpPr>
        <p:spPr>
          <a:xfrm>
            <a:off x="609585" y="3806627"/>
            <a:ext cx="4622585" cy="19050"/>
          </a:xfrm>
          <a:prstGeom prst="roundRect">
            <a:avLst>
              <a:gd name="adj" fmla="val 49999"/>
            </a:avLst>
          </a:prstGeom>
          <a:solidFill>
            <a:srgbClr val="9BA3AF"/>
          </a:solidFill>
          <a:ln/>
        </p:spPr>
      </p:sp>
      <p:sp>
        <p:nvSpPr>
          <p:cNvPr id="7" name="Text 5"/>
          <p:cNvSpPr/>
          <p:nvPr/>
        </p:nvSpPr>
        <p:spPr>
          <a:xfrm>
            <a:off x="609585" y="4010223"/>
            <a:ext cx="4622684" cy="2115344"/>
          </a:xfrm>
          <a:prstGeom prst="rect">
            <a:avLst/>
          </a:prstGeom>
          <a:noFill/>
          <a:ln/>
        </p:spPr>
        <p:txBody>
          <a:bodyPr wrap="square" lIns="0" tIns="0" rIns="0" bIns="0" rtlCol="0" anchor="t"/>
          <a:lstStyle/>
          <a:p>
            <a:pPr algn="l" indent="0" marL="0">
              <a:lnSpc>
                <a:spcPct val="106000"/>
              </a:lnSpc>
              <a:spcAft>
                <a:spcPts val="1050"/>
              </a:spcAft>
              <a:buNone/>
            </a:pPr>
            <a:r>
              <a:rPr lang="en-US" sz="1450" dirty="0">
                <a:solidFill>
                  <a:srgbClr val="E3E3DE"/>
                </a:solidFill>
                <a:latin typeface="Barlow" pitchFamily="34" charset="0"/>
                <a:ea typeface="Barlow" pitchFamily="34" charset="-122"/>
                <a:cs typeface="Barlow" pitchFamily="34" charset="-120"/>
              </a:rPr>
              <a:t>student name: k.sai kaushik                                    </a:t>
            </a:r>
            <a:endParaRPr lang="en-US" sz="1450" dirty="0"/>
          </a:p>
          <a:p>
            <a:pPr algn="l" indent="0" marL="0">
              <a:lnSpc>
                <a:spcPct val="106000"/>
              </a:lnSpc>
              <a:spcAft>
                <a:spcPts val="1050"/>
              </a:spcAft>
              <a:buNone/>
            </a:pPr>
            <a:r>
              <a:rPr lang="en-US" sz="1450" dirty="0">
                <a:solidFill>
                  <a:srgbClr val="E3E3DE"/>
                </a:solidFill>
                <a:latin typeface="Barlow" pitchFamily="34" charset="0"/>
                <a:ea typeface="Barlow" pitchFamily="34" charset="-122"/>
                <a:cs typeface="Barlow" pitchFamily="34" charset="-120"/>
              </a:rPr>
              <a:t> roll no: 2620040013</a:t>
            </a:r>
            <a:endParaRPr lang="en-US" sz="1450" dirty="0"/>
          </a:p>
          <a:p>
            <a:pPr algn="l" indent="0" marL="0">
              <a:lnSpc>
                <a:spcPct val="106000"/>
              </a:lnSpc>
              <a:spcAft>
                <a:spcPts val="1050"/>
              </a:spcAft>
              <a:buNone/>
            </a:pPr>
            <a:r>
              <a:rPr lang="en-US" sz="1450" dirty="0">
                <a:solidFill>
                  <a:srgbClr val="E3E3DE"/>
                </a:solidFill>
                <a:latin typeface="Barlow" pitchFamily="34" charset="0"/>
                <a:ea typeface="Barlow" pitchFamily="34" charset="-122"/>
                <a:cs typeface="Barlow" pitchFamily="34" charset="-120"/>
              </a:rPr>
              <a:t>student name: A.kumar</a:t>
            </a:r>
            <a:endParaRPr lang="en-US" sz="1450" dirty="0"/>
          </a:p>
          <a:p>
            <a:pPr algn="l" indent="0" marL="0">
              <a:lnSpc>
                <a:spcPct val="106000"/>
              </a:lnSpc>
              <a:spcAft>
                <a:spcPts val="1050"/>
              </a:spcAft>
              <a:buNone/>
            </a:pPr>
            <a:r>
              <a:rPr lang="en-US" sz="1450" dirty="0">
                <a:solidFill>
                  <a:srgbClr val="E3E3DE"/>
                </a:solidFill>
                <a:latin typeface="Barlow" pitchFamily="34" charset="0"/>
                <a:ea typeface="Barlow" pitchFamily="34" charset="-122"/>
                <a:cs typeface="Barlow" pitchFamily="34" charset="-120"/>
              </a:rPr>
              <a:t>roll no: 2620030137</a:t>
            </a:r>
            <a:endParaRPr lang="en-US" sz="1450" dirty="0"/>
          </a:p>
          <a:p>
            <a:pPr algn="l" indent="0" marL="0">
              <a:lnSpc>
                <a:spcPct val="106000"/>
              </a:lnSpc>
              <a:spcAft>
                <a:spcPts val="1050"/>
              </a:spcAft>
              <a:buNone/>
            </a:pPr>
            <a:r>
              <a:rPr lang="en-US" sz="1450" dirty="0">
                <a:solidFill>
                  <a:srgbClr val="E3E3DE"/>
                </a:solidFill>
                <a:latin typeface="Barlow" pitchFamily="34" charset="0"/>
                <a:ea typeface="Barlow" pitchFamily="34" charset="-122"/>
                <a:cs typeface="Barlow" pitchFamily="34" charset="-120"/>
              </a:rPr>
              <a:t>student name: Arigala Vaibhav</a:t>
            </a:r>
            <a:endParaRPr lang="en-US" sz="1450" dirty="0"/>
          </a:p>
          <a:p>
            <a:pPr algn="l" indent="0" marL="0">
              <a:lnSpc>
                <a:spcPct val="106000"/>
              </a:lnSpc>
              <a:buNone/>
            </a:pPr>
            <a:r>
              <a:rPr lang="en-US" sz="1450" dirty="0">
                <a:solidFill>
                  <a:srgbClr val="E3E3DE"/>
                </a:solidFill>
                <a:latin typeface="Barlow" pitchFamily="34" charset="0"/>
                <a:ea typeface="Barlow" pitchFamily="34" charset="-122"/>
                <a:cs typeface="Barlow" pitchFamily="34" charset="-120"/>
              </a:rPr>
              <a:t>roll no: 2620030557</a:t>
            </a:r>
            <a:endParaRPr lang="en-US" sz="1450" dirty="0"/>
          </a:p>
        </p:txBody>
      </p:sp>
      <p:pic>
        <p:nvPicPr>
          <p:cNvPr id="8" name="Image 0" descr="preencoded.png">    </p:cNvPr>
          <p:cNvPicPr>
            <a:picLocks noChangeAspect="1"/>
          </p:cNvPicPr>
          <p:nvPr/>
        </p:nvPicPr>
        <p:blipFill>
          <a:blip r:embed="rId1"/>
          <a:stretch>
            <a:fillRect/>
          </a:stretch>
        </p:blipFill>
        <p:spPr>
          <a:xfrm>
            <a:off x="5689458" y="0"/>
            <a:ext cx="6502237"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49054"/>
            <a:ext cx="10972526" cy="813693"/>
          </a:xfrm>
          <a:prstGeom prst="rect">
            <a:avLst/>
          </a:prstGeom>
          <a:noFill/>
          <a:ln/>
        </p:spPr>
        <p:txBody>
          <a:bodyPr wrap="none" lIns="0" tIns="0" rIns="0" bIns="0" rtlCol="0" anchor="t"/>
          <a:lstStyle/>
          <a:p>
            <a:pPr algn="l" indent="0" marL="0">
              <a:lnSpc>
                <a:spcPct val="83000"/>
              </a:lnSpc>
              <a:buNone/>
            </a:pPr>
            <a:r>
              <a:rPr lang="en-US" sz="6400" spc="256" kern="100" dirty="0">
                <a:solidFill>
                  <a:srgbClr val="FFFFFF"/>
                </a:solidFill>
                <a:latin typeface="Bebas Neue" pitchFamily="34" charset="0"/>
                <a:ea typeface="Bebas Neue" pitchFamily="34" charset="-122"/>
                <a:cs typeface="Bebas Neue" pitchFamily="34" charset="-120"/>
              </a:rPr>
              <a:t>abstract</a:t>
            </a:r>
            <a:endParaRPr lang="en-US" sz="6400" dirty="0"/>
          </a:p>
        </p:txBody>
      </p:sp>
      <p:sp>
        <p:nvSpPr>
          <p:cNvPr id="3" name="Text 1"/>
          <p:cNvSpPr/>
          <p:nvPr/>
        </p:nvSpPr>
        <p:spPr>
          <a:xfrm>
            <a:off x="609585" y="1626195"/>
            <a:ext cx="10972526" cy="5234186"/>
          </a:xfrm>
          <a:prstGeom prst="rect">
            <a:avLst/>
          </a:prstGeom>
          <a:noFill/>
          <a:ln/>
        </p:spPr>
        <p:txBody>
          <a:bodyPr wrap="square" lIns="0" tIns="0" rIns="0" bIns="0" rtlCol="0" anchor="t">
            <a:normAutofit/>
          </a:bodyPr>
          <a:lstStyle/>
          <a:p>
            <a:pPr algn="l" indent="0" marL="0">
              <a:lnSpc>
                <a:spcPct val="113000"/>
              </a:lnSpc>
              <a:spcAft>
                <a:spcPts val="1400"/>
              </a:spcAft>
              <a:buNone/>
            </a:pPr>
            <a:r>
              <a:rPr lang="en-US" sz="1700" dirty="0">
                <a:solidFill>
                  <a:srgbClr val="FFFFFF"/>
                </a:solidFill>
                <a:latin typeface="Barlow" pitchFamily="34" charset="0"/>
                <a:ea typeface="Barlow" pitchFamily="34" charset="-122"/>
                <a:cs typeface="Barlow" pitchFamily="34" charset="-120"/>
              </a:rPr>
              <a:t>The Car Rental Fleet Manager is a software application designed to simplify and automate the management of vehicles, customers, rentals, and returns in a car rental business. Traditional car rental management methods often rely on manual records, which can be time-consuming, error-prone, and difficult to maintain. This system provides a centralized platform for efficiently managing the rental fleet and customer information.</a:t>
            </a:r>
            <a:endParaRPr lang="en-US" sz="1700" dirty="0"/>
          </a:p>
          <a:p>
            <a:pPr algn="l" indent="0" marL="0">
              <a:lnSpc>
                <a:spcPct val="113000"/>
              </a:lnSpc>
              <a:spcAft>
                <a:spcPts val="1400"/>
              </a:spcAft>
              <a:buNone/>
            </a:pPr>
            <a:r>
              <a:rPr lang="en-US" sz="1700" dirty="0">
                <a:solidFill>
                  <a:srgbClr val="FFFFFF"/>
                </a:solidFill>
                <a:latin typeface="Barlow" pitchFamily="34" charset="0"/>
                <a:ea typeface="Barlow" pitchFamily="34" charset="-122"/>
                <a:cs typeface="Barlow" pitchFamily="34" charset="-120"/>
              </a:rPr>
              <a:t>The system allows rental staff to add, update, search, and remove car records and maintain details such as car name, model, registration number, rental price, availability, and condition. It also manages customer information and maintains rental and return records. Users can easily search for available cars and view relevant information before making a rental request. The system can track rental periods, return dates, and vehicle availability, helping staff manage the fleet efficiently and avoid booking unavailable vehicles.</a:t>
            </a:r>
            <a:endParaRPr lang="en-US" sz="1700" dirty="0"/>
          </a:p>
          <a:p>
            <a:pPr algn="l" indent="0" marL="0">
              <a:lnSpc>
                <a:spcPct val="113000"/>
              </a:lnSpc>
              <a:spcAft>
                <a:spcPts val="1400"/>
              </a:spcAft>
              <a:buNone/>
            </a:pPr>
            <a:r>
              <a:rPr lang="en-US" sz="1700" dirty="0">
                <a:solidFill>
                  <a:srgbClr val="FFFFFF"/>
                </a:solidFill>
                <a:latin typeface="Barlow" pitchFamily="34" charset="0"/>
                <a:ea typeface="Barlow" pitchFamily="34" charset="-122"/>
                <a:cs typeface="Barlow" pitchFamily="34" charset="-120"/>
              </a:rPr>
              <a:t>By automating routine operations, the proposed system reduces paperwork, minimizes data-entry errors, saves time, and improves accessibility of vehicle information. It also provides an organized and reliable method for maintaining rental records and monitoring the overall fleet. The Car Rental Fleet Manager can be implemented as a web or desktop application and can be further enhanced with features such as online booking, automatic billing, payment processing, late-return charges, maintenance tracking, and role-based access. Overall, the system aims to provide a simple, efficient, and user-friendly solution for managing car rental operations and fleet activities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55637"/>
            <a:ext cx="10972526" cy="863600"/>
          </a:xfrm>
          <a:prstGeom prst="rect">
            <a:avLst/>
          </a:prstGeom>
          <a:noFill/>
          <a:ln/>
        </p:spPr>
        <p:txBody>
          <a:bodyPr wrap="none" lIns="0" tIns="0" rIns="0" bIns="0" rtlCol="0" anchor="t"/>
          <a:lstStyle/>
          <a:p>
            <a:pPr algn="l" indent="0" marL="0">
              <a:lnSpc>
                <a:spcPct val="83000"/>
              </a:lnSpc>
              <a:buNone/>
            </a:pPr>
            <a:r>
              <a:rPr lang="en-US" sz="6800" spc="272" kern="100" dirty="0">
                <a:solidFill>
                  <a:srgbClr val="F4F4F0"/>
                </a:solidFill>
                <a:latin typeface="Bebas Neue" pitchFamily="34" charset="0"/>
                <a:ea typeface="Bebas Neue" pitchFamily="34" charset="-122"/>
                <a:cs typeface="Bebas Neue" pitchFamily="34" charset="-120"/>
              </a:rPr>
              <a:t>problem statement</a:t>
            </a:r>
            <a:endParaRPr lang="en-US" sz="6800" dirty="0"/>
          </a:p>
        </p:txBody>
      </p:sp>
      <p:sp>
        <p:nvSpPr>
          <p:cNvPr id="3" name="Text 1"/>
          <p:cNvSpPr/>
          <p:nvPr/>
        </p:nvSpPr>
        <p:spPr>
          <a:xfrm>
            <a:off x="609585" y="1701800"/>
            <a:ext cx="10972526" cy="2126258"/>
          </a:xfrm>
          <a:prstGeom prst="rect">
            <a:avLst/>
          </a:prstGeom>
          <a:noFill/>
          <a:ln/>
        </p:spPr>
        <p:txBody>
          <a:bodyPr wrap="square" lIns="0" tIns="0" rIns="0" bIns="0" rtlCol="0" anchor="t">
            <a:normAutofit/>
          </a:bodyPr>
          <a:lstStyle/>
          <a:p>
            <a:pPr algn="l" indent="0" marL="0">
              <a:lnSpc>
                <a:spcPct val="117000"/>
              </a:lnSpc>
              <a:spcAft>
                <a:spcPts val="1600"/>
              </a:spcAft>
              <a:buNone/>
            </a:pPr>
            <a:r>
              <a:rPr lang="en-US" sz="1800" dirty="0">
                <a:solidFill>
                  <a:srgbClr val="E3E3DE"/>
                </a:solidFill>
                <a:latin typeface="Barlow" pitchFamily="34" charset="0"/>
                <a:ea typeface="Barlow" pitchFamily="34" charset="-122"/>
                <a:cs typeface="Barlow" pitchFamily="34" charset="-120"/>
              </a:rPr>
              <a:t>Managing a large number of rental cars manually can be difficult and time-consuming.It can be challenging to keep track of car names, rental prices, and availability. Manual records may lead to data-entry errors and incorrect availability information. Customers need an easy way to search for cars and check whether they are available. Rental staff need a simple system to add, display, rent, return, and search cars. Therefore, a Car Rental Fleet Manager is proposed to organize and simplify these operations.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283068" cy="6858000"/>
          </a:xfrm>
          <a:prstGeom prst="rect">
            <a:avLst/>
          </a:prstGeom>
        </p:spPr>
      </p:pic>
      <p:sp>
        <p:nvSpPr>
          <p:cNvPr id="3" name="Shape 0"/>
          <p:cNvSpPr/>
          <p:nvPr/>
        </p:nvSpPr>
        <p:spPr>
          <a:xfrm>
            <a:off x="5283068" y="0"/>
            <a:ext cx="6908627" cy="6858000"/>
          </a:xfrm>
          <a:prstGeom prst="rect">
            <a:avLst/>
          </a:prstGeom>
          <a:solidFill>
            <a:srgbClr val="1F242B"/>
          </a:solidFill>
          <a:ln/>
        </p:spPr>
      </p:sp>
      <p:sp>
        <p:nvSpPr>
          <p:cNvPr id="4" name="Text 1"/>
          <p:cNvSpPr/>
          <p:nvPr/>
        </p:nvSpPr>
        <p:spPr>
          <a:xfrm>
            <a:off x="5791055" y="516890"/>
            <a:ext cx="640064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E3E3DE"/>
                </a:solidFill>
                <a:latin typeface="Barlow" pitchFamily="34" charset="0"/>
                <a:ea typeface="Barlow" pitchFamily="34" charset="-122"/>
                <a:cs typeface="Barlow" pitchFamily="34" charset="-120"/>
              </a:rPr>
              <a:t>CURRICULUM ARCHITECTURE</a:t>
            </a:r>
            <a:endParaRPr lang="en-US" sz="1300" dirty="0"/>
          </a:p>
        </p:txBody>
      </p:sp>
      <p:sp>
        <p:nvSpPr>
          <p:cNvPr id="5" name="Text 2"/>
          <p:cNvSpPr/>
          <p:nvPr/>
        </p:nvSpPr>
        <p:spPr>
          <a:xfrm>
            <a:off x="5791055" y="860683"/>
            <a:ext cx="5841854"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E3E3DE"/>
                </a:solidFill>
                <a:latin typeface="Bebas Neue" pitchFamily="34" charset="0"/>
                <a:ea typeface="Bebas Neue" pitchFamily="34" charset="-122"/>
                <a:cs typeface="Bebas Neue" pitchFamily="34" charset="-120"/>
              </a:rPr>
              <a:t>ONE JAVA PROJECT, SIX UNITS</a:t>
            </a:r>
            <a:endParaRPr lang="en-US" sz="3600" dirty="0"/>
          </a:p>
        </p:txBody>
      </p:sp>
      <p:sp>
        <p:nvSpPr>
          <p:cNvPr id="6" name="Shape 3"/>
          <p:cNvSpPr/>
          <p:nvPr/>
        </p:nvSpPr>
        <p:spPr>
          <a:xfrm>
            <a:off x="5791055" y="1494036"/>
            <a:ext cx="5841854" cy="25400"/>
          </a:xfrm>
          <a:prstGeom prst="rect">
            <a:avLst/>
          </a:prstGeom>
          <a:solidFill>
            <a:srgbClr val="FFC20E"/>
          </a:solidFill>
          <a:ln/>
        </p:spPr>
      </p:sp>
      <p:sp>
        <p:nvSpPr>
          <p:cNvPr id="7" name="Shape 4"/>
          <p:cNvSpPr/>
          <p:nvPr/>
        </p:nvSpPr>
        <p:spPr>
          <a:xfrm>
            <a:off x="5791055" y="1574998"/>
            <a:ext cx="1927772" cy="31651"/>
          </a:xfrm>
          <a:prstGeom prst="roundRect">
            <a:avLst>
              <a:gd name="adj" fmla="val 49998"/>
            </a:avLst>
          </a:prstGeom>
          <a:solidFill>
            <a:srgbClr val="9BA3AF"/>
          </a:solidFill>
          <a:ln/>
        </p:spPr>
      </p:sp>
      <p:sp>
        <p:nvSpPr>
          <p:cNvPr id="8" name="Text 5"/>
          <p:cNvSpPr/>
          <p:nvPr/>
        </p:nvSpPr>
        <p:spPr>
          <a:xfrm>
            <a:off x="5791055" y="1878528"/>
            <a:ext cx="5841854" cy="8533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CO1 through CO6 each add a functional tier to the fleet management system, from console calculations to reactive data streams.</a:t>
            </a:r>
            <a:endParaRPr lang="en-US" sz="1600" dirty="0"/>
          </a:p>
        </p:txBody>
      </p:sp>
      <p:sp>
        <p:nvSpPr>
          <p:cNvPr id="9" name="Shape 6"/>
          <p:cNvSpPr/>
          <p:nvPr/>
        </p:nvSpPr>
        <p:spPr>
          <a:xfrm>
            <a:off x="5791055" y="3589139"/>
            <a:ext cx="5841854" cy="835620"/>
          </a:xfrm>
          <a:prstGeom prst="rect">
            <a:avLst/>
          </a:prstGeom>
          <a:noFill/>
          <a:ln w="6350">
            <a:solidFill>
              <a:srgbClr val="FFC20E"/>
            </a:solidFill>
            <a:prstDash val="solid"/>
          </a:ln>
        </p:spPr>
      </p:sp>
      <p:sp>
        <p:nvSpPr>
          <p:cNvPr id="10" name="Text 7"/>
          <p:cNvSpPr/>
          <p:nvPr/>
        </p:nvSpPr>
        <p:spPr>
          <a:xfrm>
            <a:off x="5975201" y="3732331"/>
            <a:ext cx="547356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CO1 &amp; CO2 · Core Engine: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Primitive pricing formulas, console receipts, and validation branches.</a:t>
            </a:r>
            <a:endParaRPr lang="en-US" sz="1600" dirty="0"/>
          </a:p>
        </p:txBody>
      </p:sp>
      <p:sp>
        <p:nvSpPr>
          <p:cNvPr id="11" name="Shape 8"/>
          <p:cNvSpPr/>
          <p:nvPr/>
        </p:nvSpPr>
        <p:spPr>
          <a:xfrm>
            <a:off x="5791055" y="4577159"/>
            <a:ext cx="5841854" cy="835620"/>
          </a:xfrm>
          <a:prstGeom prst="rect">
            <a:avLst/>
          </a:prstGeom>
          <a:noFill/>
          <a:ln w="6350">
            <a:solidFill>
              <a:srgbClr val="FFC20E"/>
            </a:solidFill>
            <a:prstDash val="solid"/>
          </a:ln>
        </p:spPr>
      </p:sp>
      <p:sp>
        <p:nvSpPr>
          <p:cNvPr id="12" name="Text 9"/>
          <p:cNvSpPr/>
          <p:nvPr/>
        </p:nvSpPr>
        <p:spPr>
          <a:xfrm>
            <a:off x="5975201" y="4720352"/>
            <a:ext cx="547356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CO3 &amp; CO4 · Vehicle Domain:</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Modular fleet arrays, inventory search, and Car entity classes.</a:t>
            </a:r>
            <a:endParaRPr lang="en-US" sz="1600" dirty="0"/>
          </a:p>
        </p:txBody>
      </p:sp>
      <p:sp>
        <p:nvSpPr>
          <p:cNvPr id="13" name="Shape 10"/>
          <p:cNvSpPr/>
          <p:nvPr/>
        </p:nvSpPr>
        <p:spPr>
          <a:xfrm>
            <a:off x="5791055" y="5565180"/>
            <a:ext cx="5841854" cy="835620"/>
          </a:xfrm>
          <a:prstGeom prst="rect">
            <a:avLst/>
          </a:prstGeom>
          <a:noFill/>
          <a:ln w="6350">
            <a:solidFill>
              <a:srgbClr val="FFC20E"/>
            </a:solidFill>
            <a:prstDash val="solid"/>
          </a:ln>
        </p:spPr>
      </p:sp>
      <p:sp>
        <p:nvSpPr>
          <p:cNvPr id="14" name="Text 11"/>
          <p:cNvSpPr/>
          <p:nvPr/>
        </p:nvSpPr>
        <p:spPr>
          <a:xfrm>
            <a:off x="5975201" y="5708372"/>
            <a:ext cx="5473563"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CO5 &amp; CO6 · Scale &amp; Persistence: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OOP hierarchies, stream pipelines, and file storage.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415290"/>
            <a:ext cx="1158211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CO1</a:t>
            </a:r>
            <a:endParaRPr lang="en-US" sz="1300" dirty="0"/>
          </a:p>
        </p:txBody>
      </p:sp>
      <p:sp>
        <p:nvSpPr>
          <p:cNvPr id="3" name="Text 1"/>
          <p:cNvSpPr/>
          <p:nvPr/>
        </p:nvSpPr>
        <p:spPr>
          <a:xfrm>
            <a:off x="609585" y="759083"/>
            <a:ext cx="10972526"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JAVA BASICS POWER THE RENTAL RECEIPT</a:t>
            </a:r>
            <a:endParaRPr lang="en-US" sz="3600" dirty="0"/>
          </a:p>
        </p:txBody>
      </p:sp>
      <p:sp>
        <p:nvSpPr>
          <p:cNvPr id="4" name="Shape 2"/>
          <p:cNvSpPr/>
          <p:nvPr/>
        </p:nvSpPr>
        <p:spPr>
          <a:xfrm>
            <a:off x="609585" y="1447998"/>
            <a:ext cx="10972526" cy="31651"/>
          </a:xfrm>
          <a:prstGeom prst="roundRect">
            <a:avLst>
              <a:gd name="adj" fmla="val 49998"/>
            </a:avLst>
          </a:prstGeom>
          <a:solidFill>
            <a:srgbClr val="FFC20E"/>
          </a:solidFill>
          <a:ln/>
        </p:spPr>
      </p:sp>
      <p:sp>
        <p:nvSpPr>
          <p:cNvPr id="5" name="Shape 3"/>
          <p:cNvSpPr/>
          <p:nvPr/>
        </p:nvSpPr>
        <p:spPr>
          <a:xfrm>
            <a:off x="609585" y="1741686"/>
            <a:ext cx="2628834" cy="2253357"/>
          </a:xfrm>
          <a:prstGeom prst="rect">
            <a:avLst/>
          </a:prstGeom>
          <a:solidFill>
            <a:srgbClr val="1F242B"/>
          </a:solidFill>
          <a:ln w="6350">
            <a:solidFill>
              <a:srgbClr val="FFC20E"/>
            </a:solidFill>
            <a:prstDash val="solid"/>
          </a:ln>
        </p:spPr>
      </p:sp>
      <p:sp>
        <p:nvSpPr>
          <p:cNvPr id="6" name="Text 4"/>
          <p:cNvSpPr/>
          <p:nvPr/>
        </p:nvSpPr>
        <p:spPr>
          <a:xfrm>
            <a:off x="793730" y="1954728"/>
            <a:ext cx="226054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Program Structure</a:t>
            </a:r>
            <a:endParaRPr lang="en-US" sz="1900" dirty="0"/>
          </a:p>
        </p:txBody>
      </p:sp>
      <p:sp>
        <p:nvSpPr>
          <p:cNvPr id="7" name="Text 5"/>
          <p:cNvSpPr/>
          <p:nvPr/>
        </p:nvSpPr>
        <p:spPr>
          <a:xfrm>
            <a:off x="793730" y="2329974"/>
            <a:ext cx="2260543" cy="8533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Java program structure: main method, imports, and compilation flow.</a:t>
            </a:r>
            <a:endParaRPr lang="en-US" sz="1600" dirty="0"/>
          </a:p>
        </p:txBody>
      </p:sp>
      <p:sp>
        <p:nvSpPr>
          <p:cNvPr id="8" name="Shape 6"/>
          <p:cNvSpPr/>
          <p:nvPr/>
        </p:nvSpPr>
        <p:spPr>
          <a:xfrm>
            <a:off x="3390815" y="1741686"/>
            <a:ext cx="2628834" cy="2253357"/>
          </a:xfrm>
          <a:prstGeom prst="rect">
            <a:avLst/>
          </a:prstGeom>
          <a:solidFill>
            <a:srgbClr val="1F242B"/>
          </a:solidFill>
          <a:ln w="6350">
            <a:solidFill>
              <a:srgbClr val="FFC20E"/>
            </a:solidFill>
            <a:prstDash val="solid"/>
          </a:ln>
        </p:spPr>
      </p:sp>
      <p:sp>
        <p:nvSpPr>
          <p:cNvPr id="9" name="Text 7"/>
          <p:cNvSpPr/>
          <p:nvPr/>
        </p:nvSpPr>
        <p:spPr>
          <a:xfrm>
            <a:off x="3574961" y="1954728"/>
            <a:ext cx="226054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Primitive Types</a:t>
            </a:r>
            <a:endParaRPr lang="en-US" sz="1900" dirty="0"/>
          </a:p>
        </p:txBody>
      </p:sp>
      <p:sp>
        <p:nvSpPr>
          <p:cNvPr id="10" name="Text 8"/>
          <p:cNvSpPr/>
          <p:nvPr/>
        </p:nvSpPr>
        <p:spPr>
          <a:xfrm>
            <a:off x="3574961" y="2329974"/>
            <a:ext cx="2260543" cy="5816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int</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days,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double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rates,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boolean</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insured.</a:t>
            </a:r>
            <a:endParaRPr lang="en-US" sz="1600" dirty="0"/>
          </a:p>
        </p:txBody>
      </p:sp>
      <p:sp>
        <p:nvSpPr>
          <p:cNvPr id="11" name="Shape 9"/>
          <p:cNvSpPr/>
          <p:nvPr/>
        </p:nvSpPr>
        <p:spPr>
          <a:xfrm>
            <a:off x="6172046" y="1741686"/>
            <a:ext cx="2628834" cy="2253357"/>
          </a:xfrm>
          <a:prstGeom prst="rect">
            <a:avLst/>
          </a:prstGeom>
          <a:solidFill>
            <a:srgbClr val="1F242B"/>
          </a:solidFill>
          <a:ln w="6350">
            <a:solidFill>
              <a:srgbClr val="FFC20E"/>
            </a:solidFill>
            <a:prstDash val="solid"/>
          </a:ln>
        </p:spPr>
      </p:sp>
      <p:sp>
        <p:nvSpPr>
          <p:cNvPr id="12" name="Text 10"/>
          <p:cNvSpPr/>
          <p:nvPr/>
        </p:nvSpPr>
        <p:spPr>
          <a:xfrm>
            <a:off x="6356191" y="1954728"/>
            <a:ext cx="2260543"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Variables &amp; Constants</a:t>
            </a:r>
            <a:endParaRPr lang="en-US" sz="1900" dirty="0"/>
          </a:p>
        </p:txBody>
      </p:sp>
      <p:sp>
        <p:nvSpPr>
          <p:cNvPr id="13" name="Text 11"/>
          <p:cNvSpPr/>
          <p:nvPr/>
        </p:nvSpPr>
        <p:spPr>
          <a:xfrm>
            <a:off x="6356191" y="2559169"/>
            <a:ext cx="2260543" cy="85973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Variables, constants, identifiers, and literals;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final double TAX_RATE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a:t>
            </a:r>
            <a:endParaRPr lang="en-US" sz="1600" dirty="0"/>
          </a:p>
        </p:txBody>
      </p:sp>
      <p:sp>
        <p:nvSpPr>
          <p:cNvPr id="14" name="Shape 12"/>
          <p:cNvSpPr/>
          <p:nvPr/>
        </p:nvSpPr>
        <p:spPr>
          <a:xfrm>
            <a:off x="8953276" y="1741686"/>
            <a:ext cx="2628834" cy="2253357"/>
          </a:xfrm>
          <a:prstGeom prst="rect">
            <a:avLst/>
          </a:prstGeom>
          <a:solidFill>
            <a:srgbClr val="1F242B"/>
          </a:solidFill>
          <a:ln w="6350">
            <a:solidFill>
              <a:srgbClr val="FFC20E"/>
            </a:solidFill>
            <a:prstDash val="solid"/>
          </a:ln>
        </p:spPr>
      </p:sp>
      <p:sp>
        <p:nvSpPr>
          <p:cNvPr id="15" name="Text 13"/>
          <p:cNvSpPr/>
          <p:nvPr/>
        </p:nvSpPr>
        <p:spPr>
          <a:xfrm>
            <a:off x="9137421" y="1954728"/>
            <a:ext cx="226054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Operators</a:t>
            </a:r>
            <a:endParaRPr lang="en-US" sz="1900" dirty="0"/>
          </a:p>
        </p:txBody>
      </p:sp>
      <p:sp>
        <p:nvSpPr>
          <p:cNvPr id="16" name="Text 14"/>
          <p:cNvSpPr/>
          <p:nvPr/>
        </p:nvSpPr>
        <p:spPr>
          <a:xfrm>
            <a:off x="9137421" y="2329974"/>
            <a:ext cx="2260543" cy="8533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Arithmetic, relational, logical, assignment, and unary operators.</a:t>
            </a:r>
            <a:endParaRPr lang="en-US" sz="1600" dirty="0"/>
          </a:p>
        </p:txBody>
      </p:sp>
      <p:sp>
        <p:nvSpPr>
          <p:cNvPr id="17" name="Shape 15"/>
          <p:cNvSpPr/>
          <p:nvPr/>
        </p:nvSpPr>
        <p:spPr>
          <a:xfrm>
            <a:off x="609585" y="4147443"/>
            <a:ext cx="3555911" cy="2253357"/>
          </a:xfrm>
          <a:prstGeom prst="rect">
            <a:avLst/>
          </a:prstGeom>
          <a:solidFill>
            <a:srgbClr val="1F242B"/>
          </a:solidFill>
          <a:ln w="6350">
            <a:solidFill>
              <a:srgbClr val="FFC20E"/>
            </a:solidFill>
            <a:prstDash val="solid"/>
          </a:ln>
        </p:spPr>
      </p:sp>
      <p:sp>
        <p:nvSpPr>
          <p:cNvPr id="18" name="Text 16"/>
          <p:cNvSpPr/>
          <p:nvPr/>
        </p:nvSpPr>
        <p:spPr>
          <a:xfrm>
            <a:off x="793730" y="4360485"/>
            <a:ext cx="3187620"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Expression Evaluation</a:t>
            </a:r>
            <a:endParaRPr lang="en-US" sz="1900" dirty="0"/>
          </a:p>
        </p:txBody>
      </p:sp>
      <p:sp>
        <p:nvSpPr>
          <p:cNvPr id="19" name="Text 17"/>
          <p:cNvSpPr/>
          <p:nvPr/>
        </p:nvSpPr>
        <p:spPr>
          <a:xfrm>
            <a:off x="793730" y="4735731"/>
            <a:ext cx="3187620"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Operator precedence in daily rate calculations.</a:t>
            </a:r>
            <a:endParaRPr lang="en-US" sz="1600" dirty="0"/>
          </a:p>
        </p:txBody>
      </p:sp>
      <p:sp>
        <p:nvSpPr>
          <p:cNvPr id="20" name="Shape 18"/>
          <p:cNvSpPr/>
          <p:nvPr/>
        </p:nvSpPr>
        <p:spPr>
          <a:xfrm>
            <a:off x="4317892" y="4147443"/>
            <a:ext cx="3555911" cy="2253357"/>
          </a:xfrm>
          <a:prstGeom prst="rect">
            <a:avLst/>
          </a:prstGeom>
          <a:solidFill>
            <a:srgbClr val="1F242B"/>
          </a:solidFill>
          <a:ln w="6350">
            <a:solidFill>
              <a:srgbClr val="FFC20E"/>
            </a:solidFill>
            <a:prstDash val="solid"/>
          </a:ln>
        </p:spPr>
      </p:sp>
      <p:sp>
        <p:nvSpPr>
          <p:cNvPr id="21" name="Text 19"/>
          <p:cNvSpPr/>
          <p:nvPr/>
        </p:nvSpPr>
        <p:spPr>
          <a:xfrm>
            <a:off x="4502037" y="4360485"/>
            <a:ext cx="3187620"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Scanner / Console Input</a:t>
            </a:r>
            <a:endParaRPr lang="en-US" sz="1900" dirty="0"/>
          </a:p>
        </p:txBody>
      </p:sp>
      <p:sp>
        <p:nvSpPr>
          <p:cNvPr id="22" name="Text 20"/>
          <p:cNvSpPr/>
          <p:nvPr/>
        </p:nvSpPr>
        <p:spPr>
          <a:xfrm>
            <a:off x="4502037" y="4735731"/>
            <a:ext cx="3187620"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Scanner reads customer name and booking duration interactively.</a:t>
            </a:r>
            <a:endParaRPr lang="en-US" sz="1600" dirty="0"/>
          </a:p>
        </p:txBody>
      </p:sp>
      <p:sp>
        <p:nvSpPr>
          <p:cNvPr id="23" name="Shape 21"/>
          <p:cNvSpPr/>
          <p:nvPr/>
        </p:nvSpPr>
        <p:spPr>
          <a:xfrm>
            <a:off x="8026199" y="4147443"/>
            <a:ext cx="3555911" cy="2253357"/>
          </a:xfrm>
          <a:prstGeom prst="rect">
            <a:avLst/>
          </a:prstGeom>
          <a:solidFill>
            <a:srgbClr val="1F242B"/>
          </a:solidFill>
          <a:ln w="6350">
            <a:solidFill>
              <a:srgbClr val="FFC20E"/>
            </a:solidFill>
            <a:prstDash val="solid"/>
          </a:ln>
        </p:spPr>
      </p:sp>
      <p:sp>
        <p:nvSpPr>
          <p:cNvPr id="24" name="Text 22"/>
          <p:cNvSpPr/>
          <p:nvPr/>
        </p:nvSpPr>
        <p:spPr>
          <a:xfrm>
            <a:off x="8210345" y="4360485"/>
            <a:ext cx="3187620"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Console Output</a:t>
            </a:r>
            <a:endParaRPr lang="en-US" sz="1900" dirty="0"/>
          </a:p>
        </p:txBody>
      </p:sp>
      <p:sp>
        <p:nvSpPr>
          <p:cNvPr id="25" name="Text 23"/>
          <p:cNvSpPr/>
          <p:nvPr/>
        </p:nvSpPr>
        <p:spPr>
          <a:xfrm>
            <a:off x="8210345" y="4735731"/>
            <a:ext cx="3187620" cy="8660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System.out.print()</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System.out.println()</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format the rental receipt.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415290"/>
            <a:ext cx="1158211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CO2</a:t>
            </a:r>
            <a:endParaRPr lang="en-US" sz="1300" dirty="0"/>
          </a:p>
        </p:txBody>
      </p:sp>
      <p:sp>
        <p:nvSpPr>
          <p:cNvPr id="3" name="Text 1"/>
          <p:cNvSpPr/>
          <p:nvPr/>
        </p:nvSpPr>
        <p:spPr>
          <a:xfrm>
            <a:off x="609585" y="759083"/>
            <a:ext cx="10972526"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CONTROL FLOW DRIVES BOOKING DECISIONS</a:t>
            </a:r>
            <a:endParaRPr lang="en-US" sz="3600" dirty="0"/>
          </a:p>
        </p:txBody>
      </p:sp>
      <p:sp>
        <p:nvSpPr>
          <p:cNvPr id="4" name="Shape 2"/>
          <p:cNvSpPr/>
          <p:nvPr/>
        </p:nvSpPr>
        <p:spPr>
          <a:xfrm>
            <a:off x="609585" y="1392436"/>
            <a:ext cx="10972526" cy="25400"/>
          </a:xfrm>
          <a:prstGeom prst="rect">
            <a:avLst/>
          </a:prstGeom>
          <a:solidFill>
            <a:srgbClr val="FFC20E"/>
          </a:solidFill>
          <a:ln/>
        </p:spPr>
      </p:sp>
      <p:sp>
        <p:nvSpPr>
          <p:cNvPr id="5" name="Shape 3"/>
          <p:cNvSpPr/>
          <p:nvPr/>
        </p:nvSpPr>
        <p:spPr>
          <a:xfrm>
            <a:off x="609585" y="1473398"/>
            <a:ext cx="2743131" cy="31651"/>
          </a:xfrm>
          <a:prstGeom prst="roundRect">
            <a:avLst>
              <a:gd name="adj" fmla="val 49998"/>
            </a:avLst>
          </a:prstGeom>
          <a:solidFill>
            <a:srgbClr val="9BA3AF"/>
          </a:solidFill>
          <a:ln/>
        </p:spPr>
      </p:sp>
      <p:sp>
        <p:nvSpPr>
          <p:cNvPr id="6" name="Shape 4"/>
          <p:cNvSpPr/>
          <p:nvPr/>
        </p:nvSpPr>
        <p:spPr>
          <a:xfrm>
            <a:off x="609585" y="1767086"/>
            <a:ext cx="2514537" cy="4633714"/>
          </a:xfrm>
          <a:prstGeom prst="rect">
            <a:avLst/>
          </a:prstGeom>
          <a:solidFill>
            <a:srgbClr val="1F242B"/>
          </a:solidFill>
          <a:ln w="6350">
            <a:solidFill>
              <a:srgbClr val="FFC20E"/>
            </a:solidFill>
            <a:prstDash val="solid"/>
          </a:ln>
        </p:spPr>
      </p:sp>
      <p:sp>
        <p:nvSpPr>
          <p:cNvPr id="7" name="Text 5"/>
          <p:cNvSpPr/>
          <p:nvPr/>
        </p:nvSpPr>
        <p:spPr>
          <a:xfrm>
            <a:off x="819130"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BRANCHING</a:t>
            </a:r>
            <a:endParaRPr lang="en-US" sz="1300" dirty="0"/>
          </a:p>
        </p:txBody>
      </p:sp>
      <p:sp>
        <p:nvSpPr>
          <p:cNvPr id="8" name="Text 6"/>
          <p:cNvSpPr/>
          <p:nvPr/>
        </p:nvSpPr>
        <p:spPr>
          <a:xfrm>
            <a:off x="819130" y="237948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if, if-else, if-else-if</a:t>
            </a:r>
            <a:endParaRPr lang="en-US" sz="1900" dirty="0"/>
          </a:p>
        </p:txBody>
      </p:sp>
      <p:sp>
        <p:nvSpPr>
          <p:cNvPr id="9" name="Text 7"/>
          <p:cNvSpPr/>
          <p:nvPr/>
        </p:nvSpPr>
        <p:spPr>
          <a:xfrm>
            <a:off x="819130" y="2983924"/>
            <a:ext cx="2095448" cy="142230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Evaluate driver eligibility, tier qualifications, and seasonal discount triggers.</a:t>
            </a:r>
            <a:endParaRPr lang="en-US" sz="1600" dirty="0"/>
          </a:p>
        </p:txBody>
      </p:sp>
      <p:sp>
        <p:nvSpPr>
          <p:cNvPr id="10" name="Shape 8"/>
          <p:cNvSpPr/>
          <p:nvPr/>
        </p:nvSpPr>
        <p:spPr>
          <a:xfrm>
            <a:off x="3428914" y="1767086"/>
            <a:ext cx="2514537" cy="4633714"/>
          </a:xfrm>
          <a:prstGeom prst="rect">
            <a:avLst/>
          </a:prstGeom>
          <a:solidFill>
            <a:srgbClr val="1F242B"/>
          </a:solidFill>
          <a:ln w="6350">
            <a:solidFill>
              <a:srgbClr val="FFC20E"/>
            </a:solidFill>
            <a:prstDash val="solid"/>
          </a:ln>
        </p:spPr>
      </p:sp>
      <p:sp>
        <p:nvSpPr>
          <p:cNvPr id="11" name="Text 9"/>
          <p:cNvSpPr/>
          <p:nvPr/>
        </p:nvSpPr>
        <p:spPr>
          <a:xfrm>
            <a:off x="3638459"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ROUTING</a:t>
            </a:r>
            <a:endParaRPr lang="en-US" sz="1300" dirty="0"/>
          </a:p>
        </p:txBody>
      </p:sp>
      <p:sp>
        <p:nvSpPr>
          <p:cNvPr id="12" name="Text 10"/>
          <p:cNvSpPr/>
          <p:nvPr/>
        </p:nvSpPr>
        <p:spPr>
          <a:xfrm>
            <a:off x="3638459" y="237948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switch, default, break</a:t>
            </a:r>
            <a:endParaRPr lang="en-US" sz="1900" dirty="0"/>
          </a:p>
        </p:txBody>
      </p:sp>
      <p:sp>
        <p:nvSpPr>
          <p:cNvPr id="13" name="Text 11"/>
          <p:cNvSpPr/>
          <p:nvPr/>
        </p:nvSpPr>
        <p:spPr>
          <a:xfrm>
            <a:off x="3638459" y="2983924"/>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Map category codes directly to SEDAN, SUV, or TRUCK base rates with strict break flow.</a:t>
            </a:r>
            <a:endParaRPr lang="en-US" sz="1600" dirty="0"/>
          </a:p>
        </p:txBody>
      </p:sp>
      <p:sp>
        <p:nvSpPr>
          <p:cNvPr id="14" name="Shape 12"/>
          <p:cNvSpPr/>
          <p:nvPr/>
        </p:nvSpPr>
        <p:spPr>
          <a:xfrm>
            <a:off x="6248244" y="1767086"/>
            <a:ext cx="2514537" cy="4633714"/>
          </a:xfrm>
          <a:prstGeom prst="rect">
            <a:avLst/>
          </a:prstGeom>
          <a:solidFill>
            <a:srgbClr val="1F242B"/>
          </a:solidFill>
          <a:ln w="6350">
            <a:solidFill>
              <a:srgbClr val="FFC20E"/>
            </a:solidFill>
            <a:prstDash val="solid"/>
          </a:ln>
        </p:spPr>
      </p:sp>
      <p:sp>
        <p:nvSpPr>
          <p:cNvPr id="15" name="Text 13"/>
          <p:cNvSpPr/>
          <p:nvPr/>
        </p:nvSpPr>
        <p:spPr>
          <a:xfrm>
            <a:off x="645778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ITERATION</a:t>
            </a:r>
            <a:endParaRPr lang="en-US" sz="1300" dirty="0"/>
          </a:p>
        </p:txBody>
      </p:sp>
      <p:sp>
        <p:nvSpPr>
          <p:cNvPr id="16" name="Text 14"/>
          <p:cNvSpPr/>
          <p:nvPr/>
        </p:nvSpPr>
        <p:spPr>
          <a:xfrm>
            <a:off x="6457788"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for loop</a:t>
            </a:r>
            <a:endParaRPr lang="en-US" sz="1900" dirty="0"/>
          </a:p>
        </p:txBody>
      </p:sp>
      <p:sp>
        <p:nvSpPr>
          <p:cNvPr id="17" name="Text 15"/>
          <p:cNvSpPr/>
          <p:nvPr/>
        </p:nvSpPr>
        <p:spPr>
          <a:xfrm>
            <a:off x="6457788" y="2754729"/>
            <a:ext cx="2095448" cy="142230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Project daily rate breakdowns and calculate multi-week amortized rental charges.</a:t>
            </a:r>
            <a:endParaRPr lang="en-US" sz="1600" dirty="0"/>
          </a:p>
        </p:txBody>
      </p:sp>
      <p:sp>
        <p:nvSpPr>
          <p:cNvPr id="18" name="Shape 16"/>
          <p:cNvSpPr/>
          <p:nvPr/>
        </p:nvSpPr>
        <p:spPr>
          <a:xfrm>
            <a:off x="9067573" y="1767086"/>
            <a:ext cx="2514537" cy="4633714"/>
          </a:xfrm>
          <a:prstGeom prst="rect">
            <a:avLst/>
          </a:prstGeom>
          <a:solidFill>
            <a:srgbClr val="1F242B"/>
          </a:solidFill>
          <a:ln w="6350">
            <a:solidFill>
              <a:srgbClr val="FFC20E"/>
            </a:solidFill>
            <a:prstDash val="solid"/>
          </a:ln>
        </p:spPr>
      </p:sp>
      <p:sp>
        <p:nvSpPr>
          <p:cNvPr id="19" name="Text 17"/>
          <p:cNvSpPr/>
          <p:nvPr/>
        </p:nvSpPr>
        <p:spPr>
          <a:xfrm>
            <a:off x="927711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VALIDATION</a:t>
            </a:r>
            <a:endParaRPr lang="en-US" sz="1300" dirty="0"/>
          </a:p>
        </p:txBody>
      </p:sp>
      <p:sp>
        <p:nvSpPr>
          <p:cNvPr id="20" name="Text 18"/>
          <p:cNvSpPr/>
          <p:nvPr/>
        </p:nvSpPr>
        <p:spPr>
          <a:xfrm>
            <a:off x="9277118"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do-while loop</a:t>
            </a:r>
            <a:endParaRPr lang="en-US" sz="1900" dirty="0"/>
          </a:p>
        </p:txBody>
      </p:sp>
      <p:sp>
        <p:nvSpPr>
          <p:cNvPr id="21" name="Text 19"/>
          <p:cNvSpPr/>
          <p:nvPr/>
        </p:nvSpPr>
        <p:spPr>
          <a:xfrm>
            <a:off x="9277118" y="2754729"/>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Trap interactive menu selections, repeatedly prompting until valid input is received.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415290"/>
            <a:ext cx="1158211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CO3</a:t>
            </a:r>
            <a:endParaRPr lang="en-US" sz="1300" dirty="0"/>
          </a:p>
        </p:txBody>
      </p:sp>
      <p:sp>
        <p:nvSpPr>
          <p:cNvPr id="3" name="Text 1"/>
          <p:cNvSpPr/>
          <p:nvPr/>
        </p:nvSpPr>
        <p:spPr>
          <a:xfrm>
            <a:off x="609585" y="759083"/>
            <a:ext cx="10972526"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METHODS AND ARRAYS ORGANIZE THE FLEET</a:t>
            </a:r>
            <a:endParaRPr lang="en-US" sz="3600" dirty="0"/>
          </a:p>
        </p:txBody>
      </p:sp>
      <p:sp>
        <p:nvSpPr>
          <p:cNvPr id="4" name="Shape 2"/>
          <p:cNvSpPr/>
          <p:nvPr/>
        </p:nvSpPr>
        <p:spPr>
          <a:xfrm>
            <a:off x="609585" y="1392436"/>
            <a:ext cx="10972526" cy="25400"/>
          </a:xfrm>
          <a:prstGeom prst="rect">
            <a:avLst/>
          </a:prstGeom>
          <a:solidFill>
            <a:srgbClr val="FFC20E"/>
          </a:solidFill>
          <a:ln/>
        </p:spPr>
      </p:sp>
      <p:sp>
        <p:nvSpPr>
          <p:cNvPr id="5" name="Shape 3"/>
          <p:cNvSpPr/>
          <p:nvPr/>
        </p:nvSpPr>
        <p:spPr>
          <a:xfrm>
            <a:off x="609585" y="1473398"/>
            <a:ext cx="2743131" cy="31651"/>
          </a:xfrm>
          <a:prstGeom prst="roundRect">
            <a:avLst>
              <a:gd name="adj" fmla="val 49998"/>
            </a:avLst>
          </a:prstGeom>
          <a:solidFill>
            <a:srgbClr val="9BA3AF"/>
          </a:solidFill>
          <a:ln/>
        </p:spPr>
      </p:sp>
      <p:sp>
        <p:nvSpPr>
          <p:cNvPr id="6" name="Shape 4"/>
          <p:cNvSpPr/>
          <p:nvPr/>
        </p:nvSpPr>
        <p:spPr>
          <a:xfrm>
            <a:off x="609585" y="1767086"/>
            <a:ext cx="2514537" cy="4633714"/>
          </a:xfrm>
          <a:prstGeom prst="rect">
            <a:avLst/>
          </a:prstGeom>
          <a:solidFill>
            <a:srgbClr val="1F242B"/>
          </a:solidFill>
          <a:ln w="6350">
            <a:solidFill>
              <a:srgbClr val="FFC20E"/>
            </a:solidFill>
            <a:prstDash val="solid"/>
          </a:ln>
        </p:spPr>
      </p:sp>
      <p:sp>
        <p:nvSpPr>
          <p:cNvPr id="7" name="Text 5"/>
          <p:cNvSpPr/>
          <p:nvPr/>
        </p:nvSpPr>
        <p:spPr>
          <a:xfrm>
            <a:off x="819130"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ARCHITECTURE</a:t>
            </a:r>
            <a:endParaRPr lang="en-US" sz="1300" dirty="0"/>
          </a:p>
        </p:txBody>
      </p:sp>
      <p:sp>
        <p:nvSpPr>
          <p:cNvPr id="8" name="Text 6"/>
          <p:cNvSpPr/>
          <p:nvPr/>
        </p:nvSpPr>
        <p:spPr>
          <a:xfrm>
            <a:off x="819130"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Modular Code</a:t>
            </a:r>
            <a:endParaRPr lang="en-US" sz="1900" dirty="0"/>
          </a:p>
        </p:txBody>
      </p:sp>
      <p:sp>
        <p:nvSpPr>
          <p:cNvPr id="9" name="Text 7"/>
          <p:cNvSpPr/>
          <p:nvPr/>
        </p:nvSpPr>
        <p:spPr>
          <a:xfrm>
            <a:off x="819130" y="2754729"/>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Decompose terminal logic into decoupled calculate, validate, and print subroutines.</a:t>
            </a:r>
            <a:endParaRPr lang="en-US" sz="1600" dirty="0"/>
          </a:p>
        </p:txBody>
      </p:sp>
      <p:sp>
        <p:nvSpPr>
          <p:cNvPr id="10" name="Shape 8"/>
          <p:cNvSpPr/>
          <p:nvPr/>
        </p:nvSpPr>
        <p:spPr>
          <a:xfrm>
            <a:off x="3428914" y="1767086"/>
            <a:ext cx="2514537" cy="4633714"/>
          </a:xfrm>
          <a:prstGeom prst="rect">
            <a:avLst/>
          </a:prstGeom>
          <a:solidFill>
            <a:srgbClr val="1F242B"/>
          </a:solidFill>
          <a:ln w="6350">
            <a:solidFill>
              <a:srgbClr val="FFC20E"/>
            </a:solidFill>
            <a:prstDash val="solid"/>
          </a:ln>
        </p:spPr>
      </p:sp>
      <p:sp>
        <p:nvSpPr>
          <p:cNvPr id="11" name="Text 9"/>
          <p:cNvSpPr/>
          <p:nvPr/>
        </p:nvSpPr>
        <p:spPr>
          <a:xfrm>
            <a:off x="3638459"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SIGNATURES</a:t>
            </a:r>
            <a:endParaRPr lang="en-US" sz="1300" dirty="0"/>
          </a:p>
        </p:txBody>
      </p:sp>
      <p:sp>
        <p:nvSpPr>
          <p:cNvPr id="12" name="Text 10"/>
          <p:cNvSpPr/>
          <p:nvPr/>
        </p:nvSpPr>
        <p:spPr>
          <a:xfrm>
            <a:off x="3638459"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Method Contracts</a:t>
            </a:r>
            <a:endParaRPr lang="en-US" sz="1900" dirty="0"/>
          </a:p>
        </p:txBody>
      </p:sp>
      <p:sp>
        <p:nvSpPr>
          <p:cNvPr id="13" name="Text 11"/>
          <p:cNvSpPr/>
          <p:nvPr/>
        </p:nvSpPr>
        <p:spPr>
          <a:xfrm>
            <a:off x="3638459" y="2754729"/>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Define reusable parameters and clean return types for pricing algorithms.</a:t>
            </a:r>
            <a:endParaRPr lang="en-US" sz="1600" dirty="0"/>
          </a:p>
        </p:txBody>
      </p:sp>
      <p:sp>
        <p:nvSpPr>
          <p:cNvPr id="14" name="Shape 12"/>
          <p:cNvSpPr/>
          <p:nvPr/>
        </p:nvSpPr>
        <p:spPr>
          <a:xfrm>
            <a:off x="6248244" y="1767086"/>
            <a:ext cx="2514537" cy="4633714"/>
          </a:xfrm>
          <a:prstGeom prst="rect">
            <a:avLst/>
          </a:prstGeom>
          <a:solidFill>
            <a:srgbClr val="1F242B"/>
          </a:solidFill>
          <a:ln w="6350">
            <a:solidFill>
              <a:srgbClr val="FFC20E"/>
            </a:solidFill>
            <a:prstDash val="solid"/>
          </a:ln>
        </p:spPr>
      </p:sp>
      <p:sp>
        <p:nvSpPr>
          <p:cNvPr id="15" name="Text 13"/>
          <p:cNvSpPr/>
          <p:nvPr/>
        </p:nvSpPr>
        <p:spPr>
          <a:xfrm>
            <a:off x="645778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INVENTORY</a:t>
            </a:r>
            <a:endParaRPr lang="en-US" sz="1300" dirty="0"/>
          </a:p>
        </p:txBody>
      </p:sp>
      <p:sp>
        <p:nvSpPr>
          <p:cNvPr id="16" name="Text 14"/>
          <p:cNvSpPr/>
          <p:nvPr/>
        </p:nvSpPr>
        <p:spPr>
          <a:xfrm>
            <a:off x="6457788"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1D Fleet Arrays</a:t>
            </a:r>
            <a:endParaRPr lang="en-US" sz="1900" dirty="0"/>
          </a:p>
        </p:txBody>
      </p:sp>
      <p:sp>
        <p:nvSpPr>
          <p:cNvPr id="17" name="Text 15"/>
          <p:cNvSpPr/>
          <p:nvPr/>
        </p:nvSpPr>
        <p:spPr>
          <a:xfrm>
            <a:off x="6457788" y="2754729"/>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Store fixed car plate indices and traverse available parking bay allocations.</a:t>
            </a:r>
            <a:endParaRPr lang="en-US" sz="1600" dirty="0"/>
          </a:p>
        </p:txBody>
      </p:sp>
      <p:sp>
        <p:nvSpPr>
          <p:cNvPr id="18" name="Shape 16"/>
          <p:cNvSpPr/>
          <p:nvPr/>
        </p:nvSpPr>
        <p:spPr>
          <a:xfrm>
            <a:off x="9067573" y="1767086"/>
            <a:ext cx="2514537" cy="4633714"/>
          </a:xfrm>
          <a:prstGeom prst="rect">
            <a:avLst/>
          </a:prstGeom>
          <a:solidFill>
            <a:srgbClr val="1F242B"/>
          </a:solidFill>
          <a:ln w="6350">
            <a:solidFill>
              <a:srgbClr val="FFC20E"/>
            </a:solidFill>
            <a:prstDash val="solid"/>
          </a:ln>
        </p:spPr>
      </p:sp>
      <p:sp>
        <p:nvSpPr>
          <p:cNvPr id="19" name="Text 17"/>
          <p:cNvSpPr/>
          <p:nvPr/>
        </p:nvSpPr>
        <p:spPr>
          <a:xfrm>
            <a:off x="927711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DISCOVERY</a:t>
            </a:r>
            <a:endParaRPr lang="en-US" sz="1300" dirty="0"/>
          </a:p>
        </p:txBody>
      </p:sp>
      <p:sp>
        <p:nvSpPr>
          <p:cNvPr id="20" name="Text 18"/>
          <p:cNvSpPr/>
          <p:nvPr/>
        </p:nvSpPr>
        <p:spPr>
          <a:xfrm>
            <a:off x="9277118" y="2379484"/>
            <a:ext cx="2095448"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Search &amp; Count</a:t>
            </a:r>
            <a:endParaRPr lang="en-US" sz="1900" dirty="0"/>
          </a:p>
        </p:txBody>
      </p:sp>
      <p:sp>
        <p:nvSpPr>
          <p:cNvPr id="21" name="Text 19"/>
          <p:cNvSpPr/>
          <p:nvPr/>
        </p:nvSpPr>
        <p:spPr>
          <a:xfrm>
            <a:off x="9277118" y="2754729"/>
            <a:ext cx="2095448" cy="1137841"/>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Linear scan for available license plates and tally rented vs depot vehicles.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8490"/>
            <a:ext cx="1158211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CO4</a:t>
            </a:r>
            <a:endParaRPr lang="en-US" sz="1300" dirty="0"/>
          </a:p>
        </p:txBody>
      </p:sp>
      <p:sp>
        <p:nvSpPr>
          <p:cNvPr id="3" name="Text 1"/>
          <p:cNvSpPr/>
          <p:nvPr/>
        </p:nvSpPr>
        <p:spPr>
          <a:xfrm>
            <a:off x="609585" y="962283"/>
            <a:ext cx="10972526"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CLASSES AND OBJECTS MODEL EVERY CAR</a:t>
            </a:r>
            <a:endParaRPr lang="en-US" sz="3600" dirty="0"/>
          </a:p>
        </p:txBody>
      </p:sp>
      <p:sp>
        <p:nvSpPr>
          <p:cNvPr id="4" name="Shape 2"/>
          <p:cNvSpPr/>
          <p:nvPr/>
        </p:nvSpPr>
        <p:spPr>
          <a:xfrm>
            <a:off x="609585" y="1595636"/>
            <a:ext cx="10972526" cy="25400"/>
          </a:xfrm>
          <a:prstGeom prst="rect">
            <a:avLst/>
          </a:prstGeom>
          <a:solidFill>
            <a:srgbClr val="FFC20E"/>
          </a:solidFill>
          <a:ln/>
        </p:spPr>
      </p:sp>
      <p:sp>
        <p:nvSpPr>
          <p:cNvPr id="5" name="Shape 3"/>
          <p:cNvSpPr/>
          <p:nvPr/>
        </p:nvSpPr>
        <p:spPr>
          <a:xfrm>
            <a:off x="609585" y="1676598"/>
            <a:ext cx="2743131" cy="31651"/>
          </a:xfrm>
          <a:prstGeom prst="roundRect">
            <a:avLst>
              <a:gd name="adj" fmla="val 49998"/>
            </a:avLst>
          </a:prstGeom>
          <a:solidFill>
            <a:srgbClr val="9BA3AF"/>
          </a:solidFill>
          <a:ln/>
        </p:spPr>
      </p:sp>
      <p:sp>
        <p:nvSpPr>
          <p:cNvPr id="6" name="Shape 4"/>
          <p:cNvSpPr/>
          <p:nvPr/>
        </p:nvSpPr>
        <p:spPr>
          <a:xfrm>
            <a:off x="609585" y="1970286"/>
            <a:ext cx="5333867" cy="1986657"/>
          </a:xfrm>
          <a:prstGeom prst="rect">
            <a:avLst/>
          </a:prstGeom>
          <a:solidFill>
            <a:srgbClr val="1F242B"/>
          </a:solidFill>
          <a:ln w="6350">
            <a:solidFill>
              <a:srgbClr val="FFC20E"/>
            </a:solidFill>
            <a:prstDash val="solid"/>
          </a:ln>
        </p:spPr>
      </p:sp>
      <p:sp>
        <p:nvSpPr>
          <p:cNvPr id="7" name="Text 5"/>
          <p:cNvSpPr/>
          <p:nvPr/>
        </p:nvSpPr>
        <p:spPr>
          <a:xfrm>
            <a:off x="819130" y="2239526"/>
            <a:ext cx="512432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BLUEPRINTS</a:t>
            </a:r>
            <a:endParaRPr lang="en-US" sz="1300" dirty="0"/>
          </a:p>
        </p:txBody>
      </p:sp>
      <p:sp>
        <p:nvSpPr>
          <p:cNvPr id="8" name="Text 6"/>
          <p:cNvSpPr/>
          <p:nvPr/>
        </p:nvSpPr>
        <p:spPr>
          <a:xfrm>
            <a:off x="819130" y="2582684"/>
            <a:ext cx="4914777"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Car Class &amp; Fields</a:t>
            </a:r>
            <a:endParaRPr lang="en-US" sz="1900" dirty="0"/>
          </a:p>
        </p:txBody>
      </p:sp>
      <p:sp>
        <p:nvSpPr>
          <p:cNvPr id="9" name="Text 7"/>
          <p:cNvSpPr/>
          <p:nvPr/>
        </p:nvSpPr>
        <p:spPr>
          <a:xfrm>
            <a:off x="819130" y="2957929"/>
            <a:ext cx="4914777"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Group vehicle license, model, daily rate, and availability into clean object state.</a:t>
            </a:r>
            <a:endParaRPr lang="en-US" sz="1600" dirty="0"/>
          </a:p>
        </p:txBody>
      </p:sp>
      <p:sp>
        <p:nvSpPr>
          <p:cNvPr id="10" name="Shape 8"/>
          <p:cNvSpPr/>
          <p:nvPr/>
        </p:nvSpPr>
        <p:spPr>
          <a:xfrm>
            <a:off x="6248244" y="1970286"/>
            <a:ext cx="5333867" cy="1986657"/>
          </a:xfrm>
          <a:prstGeom prst="rect">
            <a:avLst/>
          </a:prstGeom>
          <a:solidFill>
            <a:srgbClr val="1F242B"/>
          </a:solidFill>
          <a:ln w="6350">
            <a:solidFill>
              <a:srgbClr val="FFC20E"/>
            </a:solidFill>
            <a:prstDash val="solid"/>
          </a:ln>
        </p:spPr>
      </p:sp>
      <p:sp>
        <p:nvSpPr>
          <p:cNvPr id="11" name="Text 9"/>
          <p:cNvSpPr/>
          <p:nvPr/>
        </p:nvSpPr>
        <p:spPr>
          <a:xfrm>
            <a:off x="6457788" y="2239526"/>
            <a:ext cx="512432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INSTANTIATION</a:t>
            </a:r>
            <a:endParaRPr lang="en-US" sz="1300" dirty="0"/>
          </a:p>
        </p:txBody>
      </p:sp>
      <p:sp>
        <p:nvSpPr>
          <p:cNvPr id="12" name="Text 10"/>
          <p:cNvSpPr/>
          <p:nvPr/>
        </p:nvSpPr>
        <p:spPr>
          <a:xfrm>
            <a:off x="6457788" y="2582684"/>
            <a:ext cx="4914777"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Constructors</a:t>
            </a:r>
            <a:endParaRPr lang="en-US" sz="1900" dirty="0"/>
          </a:p>
        </p:txBody>
      </p:sp>
      <p:sp>
        <p:nvSpPr>
          <p:cNvPr id="13" name="Text 11"/>
          <p:cNvSpPr/>
          <p:nvPr/>
        </p:nvSpPr>
        <p:spPr>
          <a:xfrm>
            <a:off x="6457788" y="2957929"/>
            <a:ext cx="4914777"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Enforce initial vehicle setup with parameterized VIN, make, and rate arguments.</a:t>
            </a:r>
            <a:endParaRPr lang="en-US" sz="1600" dirty="0"/>
          </a:p>
        </p:txBody>
      </p:sp>
      <p:sp>
        <p:nvSpPr>
          <p:cNvPr id="14" name="Shape 12"/>
          <p:cNvSpPr/>
          <p:nvPr/>
        </p:nvSpPr>
        <p:spPr>
          <a:xfrm>
            <a:off x="609585" y="4261743"/>
            <a:ext cx="5333867" cy="1986657"/>
          </a:xfrm>
          <a:prstGeom prst="rect">
            <a:avLst/>
          </a:prstGeom>
          <a:solidFill>
            <a:srgbClr val="1F242B"/>
          </a:solidFill>
          <a:ln w="6350">
            <a:solidFill>
              <a:srgbClr val="FFC20E"/>
            </a:solidFill>
            <a:prstDash val="solid"/>
          </a:ln>
        </p:spPr>
      </p:sp>
      <p:sp>
        <p:nvSpPr>
          <p:cNvPr id="15" name="Text 13"/>
          <p:cNvSpPr/>
          <p:nvPr/>
        </p:nvSpPr>
        <p:spPr>
          <a:xfrm>
            <a:off x="819130" y="4530983"/>
            <a:ext cx="512432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FLEXIBILITY</a:t>
            </a:r>
            <a:endParaRPr lang="en-US" sz="1300" dirty="0"/>
          </a:p>
        </p:txBody>
      </p:sp>
      <p:sp>
        <p:nvSpPr>
          <p:cNvPr id="16" name="Text 14"/>
          <p:cNvSpPr/>
          <p:nvPr/>
        </p:nvSpPr>
        <p:spPr>
          <a:xfrm>
            <a:off x="819130" y="4874141"/>
            <a:ext cx="4914777"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Overloading &amp; Overriding</a:t>
            </a:r>
            <a:endParaRPr lang="en-US" sz="1900" dirty="0"/>
          </a:p>
        </p:txBody>
      </p:sp>
      <p:sp>
        <p:nvSpPr>
          <p:cNvPr id="17" name="Text 15"/>
          <p:cNvSpPr/>
          <p:nvPr/>
        </p:nvSpPr>
        <p:spPr>
          <a:xfrm>
            <a:off x="819130" y="5249386"/>
            <a:ext cx="4914777" cy="57527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Provide multiple booking methods and custom </a:t>
            </a:r>
            <a:pPr algn="l" indent="0" marL="0">
              <a:lnSpc>
                <a:spcPct val="117000"/>
              </a:lnSpc>
              <a:buNone/>
            </a:pPr>
            <a:r>
              <a:rPr lang="en-US" sz="1600" dirty="0">
                <a:solidFill>
                  <a:srgbClr val="FFFFFF"/>
                </a:solidFill>
                <a:highlight>
                  <a:srgbClr val="1F242B"/>
                </a:highlight>
                <a:latin typeface="Consolas" pitchFamily="34" charset="0"/>
                <a:ea typeface="Consolas" pitchFamily="34" charset="-122"/>
                <a:cs typeface="Consolas" pitchFamily="34" charset="-120"/>
              </a:rPr>
              <a:t>toString()</a:t>
            </a:r>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 vehicle summaries.</a:t>
            </a:r>
            <a:endParaRPr lang="en-US" sz="1600" dirty="0"/>
          </a:p>
        </p:txBody>
      </p:sp>
      <p:sp>
        <p:nvSpPr>
          <p:cNvPr id="18" name="Shape 16"/>
          <p:cNvSpPr/>
          <p:nvPr/>
        </p:nvSpPr>
        <p:spPr>
          <a:xfrm>
            <a:off x="6248244" y="4261743"/>
            <a:ext cx="5333867" cy="1986657"/>
          </a:xfrm>
          <a:prstGeom prst="rect">
            <a:avLst/>
          </a:prstGeom>
          <a:solidFill>
            <a:srgbClr val="1F242B"/>
          </a:solidFill>
          <a:ln w="6350">
            <a:solidFill>
              <a:srgbClr val="FFC20E"/>
            </a:solidFill>
            <a:prstDash val="solid"/>
          </a:ln>
        </p:spPr>
      </p:sp>
      <p:sp>
        <p:nvSpPr>
          <p:cNvPr id="19" name="Text 17"/>
          <p:cNvSpPr/>
          <p:nvPr/>
        </p:nvSpPr>
        <p:spPr>
          <a:xfrm>
            <a:off x="6457788" y="4530983"/>
            <a:ext cx="512432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IDENTITY</a:t>
            </a:r>
            <a:endParaRPr lang="en-US" sz="1300" dirty="0"/>
          </a:p>
        </p:txBody>
      </p:sp>
      <p:sp>
        <p:nvSpPr>
          <p:cNvPr id="20" name="Text 18"/>
          <p:cNvSpPr/>
          <p:nvPr/>
        </p:nvSpPr>
        <p:spPr>
          <a:xfrm>
            <a:off x="6457788" y="4874141"/>
            <a:ext cx="4914777"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The this Keyword</a:t>
            </a:r>
            <a:endParaRPr lang="en-US" sz="1900" dirty="0"/>
          </a:p>
        </p:txBody>
      </p:sp>
      <p:sp>
        <p:nvSpPr>
          <p:cNvPr id="21" name="Text 19"/>
          <p:cNvSpPr/>
          <p:nvPr/>
        </p:nvSpPr>
        <p:spPr>
          <a:xfrm>
            <a:off x="6457788" y="5249386"/>
            <a:ext cx="4914777"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Barlow" pitchFamily="34" charset="0"/>
                <a:ea typeface="Barlow" pitchFamily="34" charset="-122"/>
                <a:cs typeface="Barlow" pitchFamily="34" charset="-120"/>
              </a:rPr>
              <a:t>Disambiguate instance variables from constructor parameters during car registration.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689458" cy="6882309"/>
          </a:xfrm>
          <a:prstGeom prst="rect">
            <a:avLst/>
          </a:prstGeom>
        </p:spPr>
      </p:pic>
      <p:sp>
        <p:nvSpPr>
          <p:cNvPr id="3" name="Shape 0"/>
          <p:cNvSpPr/>
          <p:nvPr/>
        </p:nvSpPr>
        <p:spPr>
          <a:xfrm>
            <a:off x="5689458" y="0"/>
            <a:ext cx="6502237" cy="6882309"/>
          </a:xfrm>
          <a:prstGeom prst="rect">
            <a:avLst/>
          </a:prstGeom>
          <a:solidFill>
            <a:srgbClr val="1F242B"/>
          </a:solidFill>
          <a:ln/>
        </p:spPr>
      </p:sp>
      <p:sp>
        <p:nvSpPr>
          <p:cNvPr id="4" name="Text 1"/>
          <p:cNvSpPr/>
          <p:nvPr/>
        </p:nvSpPr>
        <p:spPr>
          <a:xfrm>
            <a:off x="6045049" y="364490"/>
            <a:ext cx="6146646"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E3E3DE"/>
                </a:solidFill>
                <a:latin typeface="Barlow" pitchFamily="34" charset="0"/>
                <a:ea typeface="Barlow" pitchFamily="34" charset="-122"/>
                <a:cs typeface="Barlow" pitchFamily="34" charset="-120"/>
              </a:rPr>
              <a:t>CO5</a:t>
            </a:r>
            <a:endParaRPr lang="en-US" sz="1300" dirty="0"/>
          </a:p>
        </p:txBody>
      </p:sp>
      <p:sp>
        <p:nvSpPr>
          <p:cNvPr id="5" name="Text 2"/>
          <p:cNvSpPr/>
          <p:nvPr/>
        </p:nvSpPr>
        <p:spPr>
          <a:xfrm>
            <a:off x="6045049" y="708283"/>
            <a:ext cx="5740256" cy="868561"/>
          </a:xfrm>
          <a:prstGeom prst="rect">
            <a:avLst/>
          </a:prstGeom>
          <a:noFill/>
          <a:ln/>
        </p:spPr>
        <p:txBody>
          <a:bodyPr wrap="square" lIns="0" tIns="0" rIns="0" bIns="0" rtlCol="0" anchor="t">
            <a:normAutofit/>
          </a:bodyPr>
          <a:lstStyle/>
          <a:p>
            <a:pPr algn="l" indent="0" marL="0">
              <a:lnSpc>
                <a:spcPct val="79000"/>
              </a:lnSpc>
              <a:buNone/>
            </a:pPr>
            <a:r>
              <a:rPr lang="en-US" sz="3600" spc="144" kern="100" dirty="0">
                <a:solidFill>
                  <a:srgbClr val="E3E3DE"/>
                </a:solidFill>
                <a:latin typeface="Bebas Neue" pitchFamily="34" charset="0"/>
                <a:ea typeface="Bebas Neue" pitchFamily="34" charset="-122"/>
                <a:cs typeface="Bebas Neue" pitchFamily="34" charset="-120"/>
              </a:rPr>
              <a:t>OOP PILLARS STRUCTURE VEHICLE TYPES</a:t>
            </a:r>
            <a:endParaRPr lang="en-US" sz="3600" dirty="0"/>
          </a:p>
        </p:txBody>
      </p:sp>
      <p:sp>
        <p:nvSpPr>
          <p:cNvPr id="6" name="Shape 3"/>
          <p:cNvSpPr/>
          <p:nvPr/>
        </p:nvSpPr>
        <p:spPr>
          <a:xfrm>
            <a:off x="6045049" y="1775916"/>
            <a:ext cx="5740256" cy="25400"/>
          </a:xfrm>
          <a:prstGeom prst="rect">
            <a:avLst/>
          </a:prstGeom>
          <a:solidFill>
            <a:srgbClr val="FFC20E"/>
          </a:solidFill>
          <a:ln/>
        </p:spPr>
      </p:sp>
      <p:sp>
        <p:nvSpPr>
          <p:cNvPr id="7" name="Shape 4"/>
          <p:cNvSpPr/>
          <p:nvPr/>
        </p:nvSpPr>
        <p:spPr>
          <a:xfrm>
            <a:off x="6045049" y="1856879"/>
            <a:ext cx="1435064" cy="31651"/>
          </a:xfrm>
          <a:prstGeom prst="roundRect">
            <a:avLst>
              <a:gd name="adj" fmla="val 49998"/>
            </a:avLst>
          </a:prstGeom>
          <a:solidFill>
            <a:srgbClr val="9BA3AF"/>
          </a:solidFill>
          <a:ln/>
        </p:spPr>
      </p:sp>
      <p:sp>
        <p:nvSpPr>
          <p:cNvPr id="8" name="Shape 5"/>
          <p:cNvSpPr/>
          <p:nvPr/>
        </p:nvSpPr>
        <p:spPr>
          <a:xfrm>
            <a:off x="6045049" y="2150566"/>
            <a:ext cx="5740256" cy="1134666"/>
          </a:xfrm>
          <a:prstGeom prst="rect">
            <a:avLst/>
          </a:prstGeom>
          <a:solidFill>
            <a:srgbClr val="1F242B"/>
          </a:solidFill>
          <a:ln w="6350">
            <a:solidFill>
              <a:srgbClr val="FFC20E"/>
            </a:solidFill>
            <a:prstDash val="solid"/>
          </a:ln>
        </p:spPr>
      </p:sp>
      <p:sp>
        <p:nvSpPr>
          <p:cNvPr id="9" name="Text 6"/>
          <p:cNvSpPr/>
          <p:nvPr/>
        </p:nvSpPr>
        <p:spPr>
          <a:xfrm>
            <a:off x="6178395" y="2262009"/>
            <a:ext cx="547356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Inheritance &amp; Polymorphism</a:t>
            </a:r>
            <a:endParaRPr lang="en-US" sz="1900" dirty="0"/>
          </a:p>
        </p:txBody>
      </p:sp>
      <p:sp>
        <p:nvSpPr>
          <p:cNvPr id="10" name="Text 7"/>
          <p:cNvSpPr/>
          <p:nvPr/>
        </p:nvSpPr>
        <p:spPr>
          <a:xfrm>
            <a:off x="6178395" y="2637254"/>
            <a:ext cx="5473563" cy="57527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Vehicle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base class; extended by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Sedan</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SUV</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and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Truck</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invoked uniformly through base references.</a:t>
            </a:r>
            <a:endParaRPr lang="en-US" sz="1600" dirty="0"/>
          </a:p>
        </p:txBody>
      </p:sp>
      <p:sp>
        <p:nvSpPr>
          <p:cNvPr id="11" name="Shape 8"/>
          <p:cNvSpPr/>
          <p:nvPr/>
        </p:nvSpPr>
        <p:spPr>
          <a:xfrm>
            <a:off x="6045049" y="3437632"/>
            <a:ext cx="5740256" cy="1134666"/>
          </a:xfrm>
          <a:prstGeom prst="rect">
            <a:avLst/>
          </a:prstGeom>
          <a:solidFill>
            <a:srgbClr val="1F242B"/>
          </a:solidFill>
          <a:ln w="6350">
            <a:solidFill>
              <a:srgbClr val="FFC20E"/>
            </a:solidFill>
            <a:prstDash val="solid"/>
          </a:ln>
        </p:spPr>
      </p:sp>
      <p:sp>
        <p:nvSpPr>
          <p:cNvPr id="12" name="Text 9"/>
          <p:cNvSpPr/>
          <p:nvPr/>
        </p:nvSpPr>
        <p:spPr>
          <a:xfrm>
            <a:off x="6178395" y="3549074"/>
            <a:ext cx="547356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Abstraction, Interfaces &amp; Encapsulation</a:t>
            </a:r>
            <a:endParaRPr lang="en-US" sz="1900" dirty="0"/>
          </a:p>
        </p:txBody>
      </p:sp>
      <p:sp>
        <p:nvSpPr>
          <p:cNvPr id="13" name="Text 10"/>
          <p:cNvSpPr/>
          <p:nvPr/>
        </p:nvSpPr>
        <p:spPr>
          <a:xfrm>
            <a:off x="6178395" y="3924320"/>
            <a:ext cx="5473563" cy="57527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Abstract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calculateFare()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contracts and interfaces; private rates protected via accessor methods and validation.</a:t>
            </a:r>
            <a:endParaRPr lang="en-US" sz="1600" dirty="0"/>
          </a:p>
        </p:txBody>
      </p:sp>
      <p:sp>
        <p:nvSpPr>
          <p:cNvPr id="14" name="Shape 11"/>
          <p:cNvSpPr/>
          <p:nvPr/>
        </p:nvSpPr>
        <p:spPr>
          <a:xfrm>
            <a:off x="6045049" y="4724698"/>
            <a:ext cx="5740256" cy="850205"/>
          </a:xfrm>
          <a:prstGeom prst="rect">
            <a:avLst/>
          </a:prstGeom>
          <a:solidFill>
            <a:srgbClr val="1F242B"/>
          </a:solidFill>
          <a:ln w="6350">
            <a:solidFill>
              <a:srgbClr val="FFC20E"/>
            </a:solidFill>
            <a:prstDash val="solid"/>
          </a:ln>
        </p:spPr>
      </p:sp>
      <p:sp>
        <p:nvSpPr>
          <p:cNvPr id="15" name="Text 12"/>
          <p:cNvSpPr/>
          <p:nvPr/>
        </p:nvSpPr>
        <p:spPr>
          <a:xfrm>
            <a:off x="6178395" y="4836140"/>
            <a:ext cx="547356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Packages</a:t>
            </a:r>
            <a:endParaRPr lang="en-US" sz="1900" dirty="0"/>
          </a:p>
        </p:txBody>
      </p:sp>
      <p:sp>
        <p:nvSpPr>
          <p:cNvPr id="16" name="Text 13"/>
          <p:cNvSpPr/>
          <p:nvPr/>
        </p:nvSpPr>
        <p:spPr>
          <a:xfrm>
            <a:off x="6178395" y="5211385"/>
            <a:ext cx="5606910" cy="290810"/>
          </a:xfrm>
          <a:prstGeom prst="rect">
            <a:avLst/>
          </a:prstGeom>
          <a:noFill/>
          <a:ln/>
        </p:spPr>
        <p:txBody>
          <a:bodyPr wrap="none" lIns="0" tIns="0" rIns="0" bIns="0" rtlCol="0" anchor="t"/>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Organized into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fleet.model</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and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fleet.service</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a:t>
            </a:r>
            <a:endParaRPr lang="en-US" sz="1600" dirty="0"/>
          </a:p>
        </p:txBody>
      </p:sp>
      <p:sp>
        <p:nvSpPr>
          <p:cNvPr id="17" name="Shape 14"/>
          <p:cNvSpPr/>
          <p:nvPr/>
        </p:nvSpPr>
        <p:spPr>
          <a:xfrm>
            <a:off x="6045049" y="5727303"/>
            <a:ext cx="5740256" cy="850205"/>
          </a:xfrm>
          <a:prstGeom prst="rect">
            <a:avLst/>
          </a:prstGeom>
          <a:solidFill>
            <a:srgbClr val="1F242B"/>
          </a:solidFill>
          <a:ln w="6350">
            <a:solidFill>
              <a:srgbClr val="FFC20E"/>
            </a:solidFill>
            <a:prstDash val="solid"/>
          </a:ln>
        </p:spPr>
      </p:sp>
      <p:sp>
        <p:nvSpPr>
          <p:cNvPr id="18" name="Text 15"/>
          <p:cNvSpPr/>
          <p:nvPr/>
        </p:nvSpPr>
        <p:spPr>
          <a:xfrm>
            <a:off x="6178395" y="5838745"/>
            <a:ext cx="5473563"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E3E3DE"/>
                </a:solidFill>
                <a:latin typeface="Barlow SemiBold" pitchFamily="34" charset="0"/>
                <a:ea typeface="Barlow SemiBold" pitchFamily="34" charset="-122"/>
                <a:cs typeface="Barlow SemiBold" pitchFamily="34" charset="-120"/>
              </a:rPr>
              <a:t>Strings &amp; Exceptions</a:t>
            </a:r>
            <a:endParaRPr lang="en-US" sz="1900" dirty="0"/>
          </a:p>
        </p:txBody>
      </p:sp>
      <p:sp>
        <p:nvSpPr>
          <p:cNvPr id="19" name="Text 16"/>
          <p:cNvSpPr/>
          <p:nvPr/>
        </p:nvSpPr>
        <p:spPr>
          <a:xfrm>
            <a:off x="6178395" y="6213991"/>
            <a:ext cx="5606910" cy="290810"/>
          </a:xfrm>
          <a:prstGeom prst="rect">
            <a:avLst/>
          </a:prstGeom>
          <a:noFill/>
          <a:ln/>
        </p:spPr>
        <p:txBody>
          <a:bodyPr wrap="none" lIns="0" tIns="0" rIns="0" bIns="0" rtlCol="0" anchor="t"/>
          <a:lstStyle/>
          <a:p>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Handle </a:t>
            </a:r>
            <a:pPr algn="l" indent="0" marL="0">
              <a:lnSpc>
                <a:spcPct val="117000"/>
              </a:lnSpc>
              <a:buNone/>
            </a:pPr>
            <a:r>
              <a:rPr lang="en-US" sz="1600" dirty="0">
                <a:solidFill>
                  <a:srgbClr val="E3E3DE"/>
                </a:solidFill>
                <a:highlight>
                  <a:srgbClr val="1F242B"/>
                </a:highlight>
                <a:latin typeface="Consolas" pitchFamily="34" charset="0"/>
                <a:ea typeface="Consolas" pitchFamily="34" charset="-122"/>
                <a:cs typeface="Consolas" pitchFamily="34" charset="-120"/>
              </a:rPr>
              <a:t>CarUnavailableException</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cleanly.</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415290"/>
            <a:ext cx="1158211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CO6</a:t>
            </a:r>
            <a:endParaRPr lang="en-US" sz="1300" dirty="0"/>
          </a:p>
        </p:txBody>
      </p:sp>
      <p:sp>
        <p:nvSpPr>
          <p:cNvPr id="3" name="Text 1"/>
          <p:cNvSpPr/>
          <p:nvPr/>
        </p:nvSpPr>
        <p:spPr>
          <a:xfrm>
            <a:off x="609585" y="759083"/>
            <a:ext cx="10972526"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GENERICS, STREAMS &amp; FILES MANAGE DATA</a:t>
            </a:r>
            <a:endParaRPr lang="en-US" sz="3600" dirty="0"/>
          </a:p>
        </p:txBody>
      </p:sp>
      <p:sp>
        <p:nvSpPr>
          <p:cNvPr id="4" name="Shape 2"/>
          <p:cNvSpPr/>
          <p:nvPr/>
        </p:nvSpPr>
        <p:spPr>
          <a:xfrm>
            <a:off x="609585" y="1392436"/>
            <a:ext cx="10972526" cy="25400"/>
          </a:xfrm>
          <a:prstGeom prst="rect">
            <a:avLst/>
          </a:prstGeom>
          <a:solidFill>
            <a:srgbClr val="FFC20E"/>
          </a:solidFill>
          <a:ln/>
        </p:spPr>
      </p:sp>
      <p:sp>
        <p:nvSpPr>
          <p:cNvPr id="5" name="Shape 3"/>
          <p:cNvSpPr/>
          <p:nvPr/>
        </p:nvSpPr>
        <p:spPr>
          <a:xfrm>
            <a:off x="609585" y="1473398"/>
            <a:ext cx="2743131" cy="31651"/>
          </a:xfrm>
          <a:prstGeom prst="roundRect">
            <a:avLst>
              <a:gd name="adj" fmla="val 49998"/>
            </a:avLst>
          </a:prstGeom>
          <a:solidFill>
            <a:srgbClr val="9BA3AF"/>
          </a:solidFill>
          <a:ln/>
        </p:spPr>
      </p:sp>
      <p:sp>
        <p:nvSpPr>
          <p:cNvPr id="6" name="Shape 4"/>
          <p:cNvSpPr/>
          <p:nvPr/>
        </p:nvSpPr>
        <p:spPr>
          <a:xfrm>
            <a:off x="609585" y="1767086"/>
            <a:ext cx="2514537" cy="4633714"/>
          </a:xfrm>
          <a:prstGeom prst="rect">
            <a:avLst/>
          </a:prstGeom>
          <a:solidFill>
            <a:srgbClr val="1F242B"/>
          </a:solidFill>
          <a:ln w="6350">
            <a:solidFill>
              <a:srgbClr val="FFC20E"/>
            </a:solidFill>
            <a:prstDash val="solid"/>
          </a:ln>
        </p:spPr>
      </p:sp>
      <p:sp>
        <p:nvSpPr>
          <p:cNvPr id="7" name="Text 5"/>
          <p:cNvSpPr/>
          <p:nvPr/>
        </p:nvSpPr>
        <p:spPr>
          <a:xfrm>
            <a:off x="819130"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CONNECTIONS</a:t>
            </a:r>
            <a:endParaRPr lang="en-US" sz="1300" dirty="0"/>
          </a:p>
        </p:txBody>
      </p:sp>
      <p:sp>
        <p:nvSpPr>
          <p:cNvPr id="8" name="Text 6"/>
          <p:cNvSpPr/>
          <p:nvPr/>
        </p:nvSpPr>
        <p:spPr>
          <a:xfrm>
            <a:off x="819130" y="237948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Connected fleet data</a:t>
            </a:r>
            <a:endParaRPr lang="en-US" sz="1900" dirty="0"/>
          </a:p>
        </p:txBody>
      </p:sp>
      <p:sp>
        <p:nvSpPr>
          <p:cNvPr id="9" name="Text 7"/>
          <p:cNvSpPr/>
          <p:nvPr/>
        </p:nvSpPr>
        <p:spPr>
          <a:xfrm>
            <a:off x="819130" y="2984560"/>
            <a:ext cx="209544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Barlow" pitchFamily="34" charset="0"/>
                <a:ea typeface="Barlow" pitchFamily="34" charset="-122"/>
                <a:cs typeface="Barlow" pitchFamily="34" charset="-120"/>
              </a:rPr>
              <a:t>Link rental records across the system.</a:t>
            </a:r>
            <a:endParaRPr lang="en-US" sz="1800" dirty="0"/>
          </a:p>
        </p:txBody>
      </p:sp>
      <p:sp>
        <p:nvSpPr>
          <p:cNvPr id="10" name="Shape 8"/>
          <p:cNvSpPr/>
          <p:nvPr/>
        </p:nvSpPr>
        <p:spPr>
          <a:xfrm>
            <a:off x="3428914" y="1767086"/>
            <a:ext cx="2514537" cy="4633714"/>
          </a:xfrm>
          <a:prstGeom prst="rect">
            <a:avLst/>
          </a:prstGeom>
          <a:solidFill>
            <a:srgbClr val="1F242B"/>
          </a:solidFill>
          <a:ln w="6350">
            <a:solidFill>
              <a:srgbClr val="FFC20E"/>
            </a:solidFill>
            <a:prstDash val="solid"/>
          </a:ln>
        </p:spPr>
      </p:sp>
      <p:sp>
        <p:nvSpPr>
          <p:cNvPr id="11" name="Text 9"/>
          <p:cNvSpPr/>
          <p:nvPr/>
        </p:nvSpPr>
        <p:spPr>
          <a:xfrm>
            <a:off x="3638459" y="2036326"/>
            <a:ext cx="2095448" cy="462161"/>
          </a:xfrm>
          <a:prstGeom prst="rect">
            <a:avLst/>
          </a:prstGeom>
          <a:noFill/>
          <a:ln/>
        </p:spPr>
        <p:txBody>
          <a:bodyPr wrap="square" lIns="0" tIns="0" rIns="0" bIns="0" rtlCol="0" anchor="t">
            <a:normAutofit/>
          </a:bodyPr>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GENERICS &amp; ITERATION</a:t>
            </a:r>
            <a:endParaRPr lang="en-US" sz="1300" dirty="0"/>
          </a:p>
        </p:txBody>
      </p:sp>
      <p:sp>
        <p:nvSpPr>
          <p:cNvPr id="12" name="Text 10"/>
          <p:cNvSpPr/>
          <p:nvPr/>
        </p:nvSpPr>
        <p:spPr>
          <a:xfrm>
            <a:off x="3638459" y="261056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Type-safe vehicle lists</a:t>
            </a:r>
            <a:endParaRPr lang="en-US" sz="1900" dirty="0"/>
          </a:p>
        </p:txBody>
      </p:sp>
      <p:sp>
        <p:nvSpPr>
          <p:cNvPr id="13" name="Text 11"/>
          <p:cNvSpPr/>
          <p:nvPr/>
        </p:nvSpPr>
        <p:spPr>
          <a:xfrm>
            <a:off x="3638459" y="3215640"/>
            <a:ext cx="2095448"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Barlow" pitchFamily="34" charset="0"/>
                <a:ea typeface="Barlow" pitchFamily="34" charset="-122"/>
                <a:cs typeface="Barlow" pitchFamily="34" charset="-120"/>
              </a:rPr>
              <a:t>Generics, autoboxing and iteration organize fleet data.</a:t>
            </a:r>
            <a:endParaRPr lang="en-US" sz="1800" dirty="0"/>
          </a:p>
        </p:txBody>
      </p:sp>
      <p:sp>
        <p:nvSpPr>
          <p:cNvPr id="14" name="Shape 12"/>
          <p:cNvSpPr/>
          <p:nvPr/>
        </p:nvSpPr>
        <p:spPr>
          <a:xfrm>
            <a:off x="6248244" y="1767086"/>
            <a:ext cx="2514537" cy="4633714"/>
          </a:xfrm>
          <a:prstGeom prst="rect">
            <a:avLst/>
          </a:prstGeom>
          <a:solidFill>
            <a:srgbClr val="1F242B"/>
          </a:solidFill>
          <a:ln w="6350">
            <a:solidFill>
              <a:srgbClr val="FFC20E"/>
            </a:solidFill>
            <a:prstDash val="solid"/>
          </a:ln>
        </p:spPr>
      </p:sp>
      <p:sp>
        <p:nvSpPr>
          <p:cNvPr id="15" name="Text 13"/>
          <p:cNvSpPr/>
          <p:nvPr/>
        </p:nvSpPr>
        <p:spPr>
          <a:xfrm>
            <a:off x="645778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STREAM PROCESSING</a:t>
            </a:r>
            <a:endParaRPr lang="en-US" sz="1300" dirty="0"/>
          </a:p>
        </p:txBody>
      </p:sp>
      <p:sp>
        <p:nvSpPr>
          <p:cNvPr id="16" name="Text 14"/>
          <p:cNvSpPr/>
          <p:nvPr/>
        </p:nvSpPr>
        <p:spPr>
          <a:xfrm>
            <a:off x="6457788" y="237948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Filter available cars</a:t>
            </a:r>
            <a:endParaRPr lang="en-US" sz="1900" dirty="0"/>
          </a:p>
        </p:txBody>
      </p:sp>
      <p:sp>
        <p:nvSpPr>
          <p:cNvPr id="17" name="Text 15"/>
          <p:cNvSpPr/>
          <p:nvPr/>
        </p:nvSpPr>
        <p:spPr>
          <a:xfrm>
            <a:off x="6457788" y="2984560"/>
            <a:ext cx="2095448" cy="1279922"/>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Barlow" pitchFamily="34" charset="0"/>
                <a:ea typeface="Barlow" pitchFamily="34" charset="-122"/>
                <a:cs typeface="Barlow" pitchFamily="34" charset="-120"/>
              </a:rPr>
              <a:t>Lambdas, interfaces, streams and collectors process bookings.</a:t>
            </a:r>
            <a:endParaRPr lang="en-US" sz="1800" dirty="0"/>
          </a:p>
        </p:txBody>
      </p:sp>
      <p:sp>
        <p:nvSpPr>
          <p:cNvPr id="18" name="Shape 16"/>
          <p:cNvSpPr/>
          <p:nvPr/>
        </p:nvSpPr>
        <p:spPr>
          <a:xfrm>
            <a:off x="9067573" y="1767086"/>
            <a:ext cx="2514537" cy="4633714"/>
          </a:xfrm>
          <a:prstGeom prst="rect">
            <a:avLst/>
          </a:prstGeom>
          <a:solidFill>
            <a:srgbClr val="1F242B"/>
          </a:solidFill>
          <a:ln w="6350">
            <a:solidFill>
              <a:srgbClr val="FFC20E"/>
            </a:solidFill>
            <a:prstDash val="solid"/>
          </a:ln>
        </p:spPr>
      </p:sp>
      <p:sp>
        <p:nvSpPr>
          <p:cNvPr id="19" name="Text 17"/>
          <p:cNvSpPr/>
          <p:nvPr/>
        </p:nvSpPr>
        <p:spPr>
          <a:xfrm>
            <a:off x="9277118" y="2036326"/>
            <a:ext cx="2304992"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FILES</a:t>
            </a:r>
            <a:endParaRPr lang="en-US" sz="1300" dirty="0"/>
          </a:p>
        </p:txBody>
      </p:sp>
      <p:sp>
        <p:nvSpPr>
          <p:cNvPr id="20" name="Text 18"/>
          <p:cNvSpPr/>
          <p:nvPr/>
        </p:nvSpPr>
        <p:spPr>
          <a:xfrm>
            <a:off x="9277118" y="2379484"/>
            <a:ext cx="2095448" cy="458391"/>
          </a:xfrm>
          <a:prstGeom prst="rect">
            <a:avLst/>
          </a:prstGeom>
          <a:noFill/>
          <a:ln/>
        </p:spPr>
        <p:txBody>
          <a:bodyPr wrap="square" lIns="0" tIns="0" rIns="0" bIns="0" rtlCol="0" anchor="t">
            <a:normAutofit/>
          </a:bodyPr>
          <a:lstStyle/>
          <a:p>
            <a:pPr algn="l" indent="0" marL="0">
              <a:lnSpc>
                <a:spcPct val="79000"/>
              </a:lnSpc>
              <a:buNone/>
            </a:pPr>
            <a:r>
              <a:rPr lang="en-US" sz="1900" spc="76" kern="100" dirty="0">
                <a:solidFill>
                  <a:srgbClr val="FFFFFF"/>
                </a:solidFill>
                <a:latin typeface="Barlow SemiBold" pitchFamily="34" charset="0"/>
                <a:ea typeface="Barlow SemiBold" pitchFamily="34" charset="-122"/>
                <a:cs typeface="Barlow SemiBold" pitchFamily="34" charset="-120"/>
              </a:rPr>
              <a:t>Persistent fleet records</a:t>
            </a:r>
            <a:endParaRPr lang="en-US" sz="1900" dirty="0"/>
          </a:p>
        </p:txBody>
      </p:sp>
      <p:sp>
        <p:nvSpPr>
          <p:cNvPr id="21" name="Text 19"/>
          <p:cNvSpPr/>
          <p:nvPr/>
        </p:nvSpPr>
        <p:spPr>
          <a:xfrm>
            <a:off x="9277118" y="2984560"/>
            <a:ext cx="209544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Barlow" pitchFamily="34" charset="0"/>
                <a:ea typeface="Barlow" pitchFamily="34" charset="-122"/>
                <a:cs typeface="Barlow" pitchFamily="34" charset="-120"/>
              </a:rPr>
              <a:t>Store and retrieve rental data.</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58786" y="262890"/>
            <a:ext cx="7162621"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FFC20E"/>
                </a:solidFill>
                <a:latin typeface="Barlow" pitchFamily="34" charset="0"/>
                <a:ea typeface="Barlow" pitchFamily="34" charset="-122"/>
                <a:cs typeface="Barlow" pitchFamily="34" charset="-120"/>
              </a:rPr>
              <a:t>CONCLUSION</a:t>
            </a:r>
            <a:endParaRPr lang="en-US" sz="1300" dirty="0"/>
          </a:p>
        </p:txBody>
      </p:sp>
      <p:sp>
        <p:nvSpPr>
          <p:cNvPr id="3" name="Text 1"/>
          <p:cNvSpPr/>
          <p:nvPr/>
        </p:nvSpPr>
        <p:spPr>
          <a:xfrm>
            <a:off x="558786" y="606683"/>
            <a:ext cx="6705432" cy="434280"/>
          </a:xfrm>
          <a:prstGeom prst="rect">
            <a:avLst/>
          </a:prstGeom>
          <a:noFill/>
          <a:ln/>
        </p:spPr>
        <p:txBody>
          <a:bodyPr wrap="none" lIns="0" tIns="0" rIns="0" bIns="0" rtlCol="0" anchor="t"/>
          <a:lstStyle/>
          <a:p>
            <a:pPr algn="l" indent="0" marL="0">
              <a:lnSpc>
                <a:spcPct val="79000"/>
              </a:lnSpc>
              <a:buNone/>
            </a:pPr>
            <a:r>
              <a:rPr lang="en-US" sz="3600" spc="144" kern="100" dirty="0">
                <a:solidFill>
                  <a:srgbClr val="F4F4F0"/>
                </a:solidFill>
                <a:latin typeface="Bebas Neue" pitchFamily="34" charset="0"/>
                <a:ea typeface="Bebas Neue" pitchFamily="34" charset="-122"/>
                <a:cs typeface="Bebas Neue" pitchFamily="34" charset="-120"/>
              </a:rPr>
              <a:t>HOW THE UNITS FIT TOGETHER</a:t>
            </a:r>
            <a:endParaRPr lang="en-US" sz="3600" dirty="0"/>
          </a:p>
        </p:txBody>
      </p:sp>
      <p:sp>
        <p:nvSpPr>
          <p:cNvPr id="4" name="Shape 2"/>
          <p:cNvSpPr/>
          <p:nvPr/>
        </p:nvSpPr>
        <p:spPr>
          <a:xfrm>
            <a:off x="558786" y="1240036"/>
            <a:ext cx="6705432" cy="25400"/>
          </a:xfrm>
          <a:prstGeom prst="rect">
            <a:avLst/>
          </a:prstGeom>
          <a:solidFill>
            <a:srgbClr val="FFC20E"/>
          </a:solidFill>
          <a:ln/>
        </p:spPr>
      </p:sp>
      <p:sp>
        <p:nvSpPr>
          <p:cNvPr id="5" name="Shape 3"/>
          <p:cNvSpPr/>
          <p:nvPr/>
        </p:nvSpPr>
        <p:spPr>
          <a:xfrm>
            <a:off x="558786" y="1320998"/>
            <a:ext cx="2212622" cy="31651"/>
          </a:xfrm>
          <a:prstGeom prst="roundRect">
            <a:avLst>
              <a:gd name="adj" fmla="val 49998"/>
            </a:avLst>
          </a:prstGeom>
          <a:solidFill>
            <a:srgbClr val="9BA3AF"/>
          </a:solidFill>
          <a:ln/>
        </p:spPr>
      </p:sp>
      <p:sp>
        <p:nvSpPr>
          <p:cNvPr id="6" name="Shape 4"/>
          <p:cNvSpPr/>
          <p:nvPr/>
        </p:nvSpPr>
        <p:spPr>
          <a:xfrm>
            <a:off x="558786" y="1614686"/>
            <a:ext cx="6705432" cy="1629966"/>
          </a:xfrm>
          <a:prstGeom prst="roundRect">
            <a:avLst>
              <a:gd name="adj" fmla="val 8415"/>
            </a:avLst>
          </a:prstGeom>
          <a:solidFill>
            <a:srgbClr val="1F242B"/>
          </a:solidFill>
          <a:ln w="19050">
            <a:solidFill>
              <a:srgbClr val="FFC20E"/>
            </a:solidFill>
            <a:prstDash val="solid"/>
          </a:ln>
        </p:spPr>
      </p:sp>
      <p:sp>
        <p:nvSpPr>
          <p:cNvPr id="7" name="Text 5"/>
          <p:cNvSpPr/>
          <p:nvPr/>
        </p:nvSpPr>
        <p:spPr>
          <a:xfrm>
            <a:off x="755631" y="1709936"/>
            <a:ext cx="816252" cy="228600"/>
          </a:xfrm>
          <a:prstGeom prst="rect">
            <a:avLst/>
          </a:prstGeom>
          <a:noFill/>
          <a:ln/>
        </p:spPr>
        <p:txBody>
          <a:bodyPr wrap="none" lIns="0" tIns="0" rIns="0" bIns="0" rtlCol="0" anchor="t"/>
          <a:lstStyle/>
          <a:p>
            <a:pPr algn="l" indent="0" marL="0">
              <a:lnSpc>
                <a:spcPct val="83000"/>
              </a:lnSpc>
              <a:buNone/>
            </a:pPr>
            <a:r>
              <a:rPr lang="en-US" sz="1800" dirty="0">
                <a:solidFill>
                  <a:srgbClr val="FFC20E"/>
                </a:solidFill>
                <a:latin typeface="Barlow SemiBold" pitchFamily="34" charset="0"/>
                <a:ea typeface="Barlow SemiBold" pitchFamily="34" charset="-122"/>
                <a:cs typeface="Barlow SemiBold" pitchFamily="34" charset="-120"/>
              </a:rPr>
              <a:t>01</a:t>
            </a:r>
            <a:endParaRPr lang="en-US" sz="1800" dirty="0"/>
          </a:p>
        </p:txBody>
      </p:sp>
      <p:sp>
        <p:nvSpPr>
          <p:cNvPr id="8" name="Shape 6"/>
          <p:cNvSpPr/>
          <p:nvPr/>
        </p:nvSpPr>
        <p:spPr>
          <a:xfrm>
            <a:off x="755631" y="2030016"/>
            <a:ext cx="6311742" cy="19050"/>
          </a:xfrm>
          <a:prstGeom prst="rect">
            <a:avLst/>
          </a:prstGeom>
          <a:solidFill>
            <a:srgbClr val="FFC20E"/>
          </a:solidFill>
          <a:ln/>
        </p:spPr>
      </p:sp>
      <p:sp>
        <p:nvSpPr>
          <p:cNvPr id="9" name="Text 7"/>
          <p:cNvSpPr/>
          <p:nvPr/>
        </p:nvSpPr>
        <p:spPr>
          <a:xfrm>
            <a:off x="755631" y="2215078"/>
            <a:ext cx="6311742"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4F4F0"/>
                </a:solidFill>
                <a:latin typeface="Barlow SemiBold" pitchFamily="34" charset="0"/>
                <a:ea typeface="Barlow SemiBold" pitchFamily="34" charset="-122"/>
                <a:cs typeface="Barlow SemiBold" pitchFamily="34" charset="-120"/>
              </a:rPr>
              <a:t>Interactive Console &amp; Intake</a:t>
            </a:r>
            <a:endParaRPr lang="en-US" sz="1900" dirty="0"/>
          </a:p>
        </p:txBody>
      </p:sp>
      <p:sp>
        <p:nvSpPr>
          <p:cNvPr id="10" name="Text 8"/>
          <p:cNvSpPr/>
          <p:nvPr/>
        </p:nvSpPr>
        <p:spPr>
          <a:xfrm>
            <a:off x="755631" y="2590324"/>
            <a:ext cx="6311742"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CO1 &amp; CO2:</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Scanner input, rate arithmetic, and branching logic validate each driver request.</a:t>
            </a:r>
            <a:endParaRPr lang="en-US" sz="1600" dirty="0"/>
          </a:p>
        </p:txBody>
      </p:sp>
      <p:sp>
        <p:nvSpPr>
          <p:cNvPr id="11" name="Shape 9"/>
          <p:cNvSpPr/>
          <p:nvPr/>
        </p:nvSpPr>
        <p:spPr>
          <a:xfrm>
            <a:off x="558786" y="3244652"/>
            <a:ext cx="6705432" cy="1629966"/>
          </a:xfrm>
          <a:prstGeom prst="roundRect">
            <a:avLst>
              <a:gd name="adj" fmla="val 8415"/>
            </a:avLst>
          </a:prstGeom>
          <a:solidFill>
            <a:srgbClr val="1F242B"/>
          </a:solidFill>
          <a:ln w="19050">
            <a:solidFill>
              <a:srgbClr val="FFC20E"/>
            </a:solidFill>
            <a:prstDash val="solid"/>
          </a:ln>
        </p:spPr>
      </p:sp>
      <p:sp>
        <p:nvSpPr>
          <p:cNvPr id="12" name="Text 10"/>
          <p:cNvSpPr/>
          <p:nvPr/>
        </p:nvSpPr>
        <p:spPr>
          <a:xfrm>
            <a:off x="755631" y="3339902"/>
            <a:ext cx="865464" cy="228600"/>
          </a:xfrm>
          <a:prstGeom prst="rect">
            <a:avLst/>
          </a:prstGeom>
          <a:noFill/>
          <a:ln/>
        </p:spPr>
        <p:txBody>
          <a:bodyPr wrap="none" lIns="0" tIns="0" rIns="0" bIns="0" rtlCol="0" anchor="t"/>
          <a:lstStyle/>
          <a:p>
            <a:pPr algn="l" indent="0" marL="0">
              <a:lnSpc>
                <a:spcPct val="83000"/>
              </a:lnSpc>
              <a:buNone/>
            </a:pPr>
            <a:r>
              <a:rPr lang="en-US" sz="1800" dirty="0">
                <a:solidFill>
                  <a:srgbClr val="FFC20E"/>
                </a:solidFill>
                <a:latin typeface="Barlow SemiBold" pitchFamily="34" charset="0"/>
                <a:ea typeface="Barlow SemiBold" pitchFamily="34" charset="-122"/>
                <a:cs typeface="Barlow SemiBold" pitchFamily="34" charset="-120"/>
              </a:rPr>
              <a:t>02</a:t>
            </a:r>
            <a:endParaRPr lang="en-US" sz="1800" dirty="0"/>
          </a:p>
        </p:txBody>
      </p:sp>
      <p:sp>
        <p:nvSpPr>
          <p:cNvPr id="13" name="Shape 11"/>
          <p:cNvSpPr/>
          <p:nvPr/>
        </p:nvSpPr>
        <p:spPr>
          <a:xfrm>
            <a:off x="755631" y="3659981"/>
            <a:ext cx="6311742" cy="19050"/>
          </a:xfrm>
          <a:prstGeom prst="rect">
            <a:avLst/>
          </a:prstGeom>
          <a:solidFill>
            <a:srgbClr val="FFC20E"/>
          </a:solidFill>
          <a:ln/>
        </p:spPr>
      </p:sp>
      <p:sp>
        <p:nvSpPr>
          <p:cNvPr id="14" name="Text 12"/>
          <p:cNvSpPr/>
          <p:nvPr/>
        </p:nvSpPr>
        <p:spPr>
          <a:xfrm>
            <a:off x="755631" y="3845044"/>
            <a:ext cx="6311742"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4F4F0"/>
                </a:solidFill>
                <a:latin typeface="Barlow SemiBold" pitchFamily="34" charset="0"/>
                <a:ea typeface="Barlow SemiBold" pitchFamily="34" charset="-122"/>
                <a:cs typeface="Barlow SemiBold" pitchFamily="34" charset="-120"/>
              </a:rPr>
              <a:t>Core Fleet Model &amp; Domain</a:t>
            </a:r>
            <a:endParaRPr lang="en-US" sz="1900" dirty="0"/>
          </a:p>
        </p:txBody>
      </p:sp>
      <p:sp>
        <p:nvSpPr>
          <p:cNvPr id="15" name="Text 13"/>
          <p:cNvSpPr/>
          <p:nvPr/>
        </p:nvSpPr>
        <p:spPr>
          <a:xfrm>
            <a:off x="755631" y="4220289"/>
            <a:ext cx="6311742"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CO3, CO4 &amp; CO5:</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Arrays evolve into polymorphic Vehicle hierarchies with custom exceptions.</a:t>
            </a:r>
            <a:endParaRPr lang="en-US" sz="1600" dirty="0"/>
          </a:p>
        </p:txBody>
      </p:sp>
      <p:sp>
        <p:nvSpPr>
          <p:cNvPr id="16" name="Shape 14"/>
          <p:cNvSpPr/>
          <p:nvPr/>
        </p:nvSpPr>
        <p:spPr>
          <a:xfrm>
            <a:off x="558786" y="4874617"/>
            <a:ext cx="6705432" cy="1629966"/>
          </a:xfrm>
          <a:prstGeom prst="roundRect">
            <a:avLst>
              <a:gd name="adj" fmla="val 8415"/>
            </a:avLst>
          </a:prstGeom>
          <a:solidFill>
            <a:srgbClr val="1F242B"/>
          </a:solidFill>
          <a:ln w="19050">
            <a:solidFill>
              <a:srgbClr val="FFC20E"/>
            </a:solidFill>
            <a:prstDash val="solid"/>
          </a:ln>
        </p:spPr>
      </p:sp>
      <p:sp>
        <p:nvSpPr>
          <p:cNvPr id="17" name="Text 15"/>
          <p:cNvSpPr/>
          <p:nvPr/>
        </p:nvSpPr>
        <p:spPr>
          <a:xfrm>
            <a:off x="755631" y="4969867"/>
            <a:ext cx="860900" cy="228600"/>
          </a:xfrm>
          <a:prstGeom prst="rect">
            <a:avLst/>
          </a:prstGeom>
          <a:noFill/>
          <a:ln/>
        </p:spPr>
        <p:txBody>
          <a:bodyPr wrap="none" lIns="0" tIns="0" rIns="0" bIns="0" rtlCol="0" anchor="t"/>
          <a:lstStyle/>
          <a:p>
            <a:pPr algn="l" indent="0" marL="0">
              <a:lnSpc>
                <a:spcPct val="83000"/>
              </a:lnSpc>
              <a:buNone/>
            </a:pPr>
            <a:r>
              <a:rPr lang="en-US" sz="1800" dirty="0">
                <a:solidFill>
                  <a:srgbClr val="FFC20E"/>
                </a:solidFill>
                <a:latin typeface="Barlow SemiBold" pitchFamily="34" charset="0"/>
                <a:ea typeface="Barlow SemiBold" pitchFamily="34" charset="-122"/>
                <a:cs typeface="Barlow SemiBold" pitchFamily="34" charset="-120"/>
              </a:rPr>
              <a:t>03</a:t>
            </a:r>
            <a:endParaRPr lang="en-US" sz="1800" dirty="0"/>
          </a:p>
        </p:txBody>
      </p:sp>
      <p:sp>
        <p:nvSpPr>
          <p:cNvPr id="18" name="Shape 16"/>
          <p:cNvSpPr/>
          <p:nvPr/>
        </p:nvSpPr>
        <p:spPr>
          <a:xfrm>
            <a:off x="755631" y="5289947"/>
            <a:ext cx="6311742" cy="19050"/>
          </a:xfrm>
          <a:prstGeom prst="rect">
            <a:avLst/>
          </a:prstGeom>
          <a:solidFill>
            <a:srgbClr val="FFC20E"/>
          </a:solidFill>
          <a:ln/>
        </p:spPr>
      </p:sp>
      <p:sp>
        <p:nvSpPr>
          <p:cNvPr id="19" name="Text 17"/>
          <p:cNvSpPr/>
          <p:nvPr/>
        </p:nvSpPr>
        <p:spPr>
          <a:xfrm>
            <a:off x="755631" y="5475009"/>
            <a:ext cx="6311742" cy="229195"/>
          </a:xfrm>
          <a:prstGeom prst="rect">
            <a:avLst/>
          </a:prstGeom>
          <a:noFill/>
          <a:ln/>
        </p:spPr>
        <p:txBody>
          <a:bodyPr wrap="none" lIns="0" tIns="0" rIns="0" bIns="0" rtlCol="0" anchor="t"/>
          <a:lstStyle/>
          <a:p>
            <a:pPr algn="l" indent="0" marL="0">
              <a:lnSpc>
                <a:spcPct val="79000"/>
              </a:lnSpc>
              <a:buNone/>
            </a:pPr>
            <a:r>
              <a:rPr lang="en-US" sz="1900" spc="76" kern="100" dirty="0">
                <a:solidFill>
                  <a:srgbClr val="F4F4F0"/>
                </a:solidFill>
                <a:latin typeface="Barlow SemiBold" pitchFamily="34" charset="0"/>
                <a:ea typeface="Barlow SemiBold" pitchFamily="34" charset="-122"/>
                <a:cs typeface="Barlow SemiBold" pitchFamily="34" charset="-120"/>
              </a:rPr>
              <a:t>Data Pipelines &amp; Disk Persistence</a:t>
            </a:r>
            <a:endParaRPr lang="en-US" sz="1900" dirty="0"/>
          </a:p>
        </p:txBody>
      </p:sp>
      <p:sp>
        <p:nvSpPr>
          <p:cNvPr id="20" name="Text 18"/>
          <p:cNvSpPr/>
          <p:nvPr/>
        </p:nvSpPr>
        <p:spPr>
          <a:xfrm>
            <a:off x="755631" y="5850255"/>
            <a:ext cx="6311742" cy="568920"/>
          </a:xfrm>
          <a:prstGeom prst="rect">
            <a:avLst/>
          </a:prstGeom>
          <a:noFill/>
          <a:ln/>
        </p:spPr>
        <p:txBody>
          <a:bodyPr wrap="square" lIns="0" tIns="0" rIns="0" bIns="0" rtlCol="0" anchor="t">
            <a:normAutofit/>
          </a:bodyPr>
          <a:lstStyle/>
          <a:p>
            <a:pPr algn="l" indent="0" marL="0">
              <a:lnSpc>
                <a:spcPct val="117000"/>
              </a:lnSpc>
              <a:buNone/>
            </a:pPr>
            <a:r>
              <a:rPr lang="en-US" sz="1600" b="1" dirty="0">
                <a:solidFill>
                  <a:srgbClr val="E3E3DE"/>
                </a:solidFill>
                <a:latin typeface="Barlow Bold" pitchFamily="34" charset="0"/>
                <a:ea typeface="Barlow Bold" pitchFamily="34" charset="-122"/>
                <a:cs typeface="Barlow Bold" pitchFamily="34" charset="-120"/>
              </a:rPr>
              <a:t>CO6:</a:t>
            </a:r>
            <a:pPr algn="l" indent="0" marL="0">
              <a:lnSpc>
                <a:spcPct val="117000"/>
              </a:lnSpc>
              <a:buNone/>
            </a:pPr>
            <a:r>
              <a:rPr lang="en-US" sz="1600" dirty="0">
                <a:solidFill>
                  <a:srgbClr val="E3E3DE"/>
                </a:solidFill>
                <a:latin typeface="Barlow" pitchFamily="34" charset="0"/>
                <a:ea typeface="Barlow" pitchFamily="34" charset="-122"/>
                <a:cs typeface="Barlow" pitchFamily="34" charset="-120"/>
              </a:rPr>
              <a:t> Java Streams calculate live analytics while file handlers write CSV transaction logs.</a:t>
            </a:r>
            <a:endParaRPr lang="en-US" sz="1600" dirty="0"/>
          </a:p>
        </p:txBody>
      </p:sp>
      <p:pic>
        <p:nvPicPr>
          <p:cNvPr id="21" name="Image 0" descr="preencoded.png">    </p:cNvPr>
          <p:cNvPicPr>
            <a:picLocks noChangeAspect="1"/>
          </p:cNvPicPr>
          <p:nvPr/>
        </p:nvPicPr>
        <p:blipFill>
          <a:blip r:embed="rId1"/>
          <a:stretch>
            <a:fillRect/>
          </a:stretch>
        </p:blipFill>
        <p:spPr>
          <a:xfrm>
            <a:off x="7721407" y="0"/>
            <a:ext cx="4470288"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46037"/>
            <a:ext cx="12191695" cy="863600"/>
          </a:xfrm>
          <a:prstGeom prst="rect">
            <a:avLst/>
          </a:prstGeom>
          <a:noFill/>
          <a:ln/>
        </p:spPr>
        <p:txBody>
          <a:bodyPr wrap="none" lIns="0" tIns="0" rIns="0" bIns="0" rtlCol="0" anchor="t"/>
          <a:lstStyle/>
          <a:p>
            <a:pPr algn="l" indent="0" marL="0">
              <a:lnSpc>
                <a:spcPct val="83000"/>
              </a:lnSpc>
              <a:buNone/>
            </a:pPr>
            <a:r>
              <a:rPr lang="en-US" sz="6800" spc="272" kern="100" dirty="0">
                <a:solidFill>
                  <a:srgbClr val="F4F4F0"/>
                </a:solidFill>
                <a:latin typeface="Bebas Neue" pitchFamily="34" charset="0"/>
                <a:ea typeface="Bebas Neue" pitchFamily="34" charset="-122"/>
                <a:cs typeface="Bebas Neue" pitchFamily="34" charset="-120"/>
              </a:rPr>
              <a:t>git hub link and geo tag photo</a:t>
            </a:r>
            <a:endParaRPr lang="en-US" sz="6800" dirty="0"/>
          </a:p>
        </p:txBody>
      </p:sp>
      <p:sp>
        <p:nvSpPr>
          <p:cNvPr id="3" name="Text 1"/>
          <p:cNvSpPr/>
          <p:nvPr/>
        </p:nvSpPr>
        <p:spPr>
          <a:xfrm>
            <a:off x="0" y="1092200"/>
            <a:ext cx="12191695" cy="1372691"/>
          </a:xfrm>
          <a:prstGeom prst="rect">
            <a:avLst/>
          </a:prstGeom>
          <a:noFill/>
          <a:ln/>
        </p:spPr>
        <p:txBody>
          <a:bodyPr wrap="square" lIns="0" tIns="0" rIns="0" bIns="0" rtlCol="0" anchor="t"/>
          <a:lstStyle/>
          <a:p>
            <a:pPr algn="l" indent="0" marL="0">
              <a:lnSpc>
                <a:spcPct val="117000"/>
              </a:lnSpc>
              <a:spcAft>
                <a:spcPts val="1600"/>
              </a:spcAft>
              <a:buNone/>
            </a:pPr>
            <a:r>
              <a:rPr lang="en-US" sz="1800" dirty="0">
                <a:solidFill>
                  <a:srgbClr val="E3E3DE"/>
                </a:solidFill>
                <a:latin typeface="Barlow" pitchFamily="34" charset="0"/>
                <a:ea typeface="Barlow" pitchFamily="34" charset="-122"/>
                <a:cs typeface="Barlow" pitchFamily="34" charset="-120"/>
              </a:rPr>
              <a:t>student1: </a:t>
            </a:r>
            <a:pPr algn="l" indent="0" marL="0">
              <a:lnSpc>
                <a:spcPct val="117000"/>
              </a:lnSpc>
              <a:spcAft>
                <a:spcPts val="1600"/>
              </a:spcAft>
              <a:buNone/>
            </a:pPr>
            <a:r>
              <a:rPr lang="en-US" sz="1800" b="1" u="sng" dirty="0">
                <a:solidFill>
                  <a:srgbClr val="FFC20E"/>
                </a:solidFill>
                <a:latin typeface="Barlow Bold" pitchFamily="34" charset="0"/>
                <a:ea typeface="Barlow Bold" pitchFamily="34" charset="-122"/>
                <a:cs typeface="Barlow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https://github.com/sai-kaushik2008</a:t>
            </a:r>
            <a:endParaRPr lang="en-US" sz="1800" dirty="0"/>
          </a:p>
          <a:p>
            <a:pPr algn="l" indent="0" marL="0">
              <a:lnSpc>
                <a:spcPct val="117000"/>
              </a:lnSpc>
              <a:spcAft>
                <a:spcPts val="1600"/>
              </a:spcAft>
              <a:buNone/>
            </a:pPr>
            <a:r>
              <a:rPr lang="en-US" sz="1800" dirty="0">
                <a:solidFill>
                  <a:srgbClr val="E3E3DE"/>
                </a:solidFill>
                <a:latin typeface="Barlow" pitchFamily="34" charset="0"/>
                <a:ea typeface="Barlow" pitchFamily="34" charset="-122"/>
                <a:cs typeface="Barlow" pitchFamily="34" charset="-120"/>
              </a:rPr>
              <a:t>student2: </a:t>
            </a:r>
            <a:pPr algn="l" indent="0" marL="0">
              <a:lnSpc>
                <a:spcPct val="117000"/>
              </a:lnSpc>
              <a:spcAft>
                <a:spcPts val="1600"/>
              </a:spcAft>
              <a:buNone/>
            </a:pPr>
            <a:r>
              <a:rPr lang="en-US" sz="1800" b="1" u="sng" dirty="0">
                <a:solidFill>
                  <a:srgbClr val="FFC20E"/>
                </a:solidFill>
                <a:latin typeface="Barlow Bold" pitchFamily="34" charset="0"/>
                <a:ea typeface="Barlow Bold" pitchFamily="34" charset="-122"/>
                <a:cs typeface="Barlow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https://github.com/Vijaykumar-2008</a:t>
            </a:r>
            <a:endParaRPr lang="en-US" sz="1800" dirty="0"/>
          </a:p>
          <a:p>
            <a:pPr algn="l" indent="0" marL="0">
              <a:lnSpc>
                <a:spcPct val="117000"/>
              </a:lnSpc>
              <a:buNone/>
            </a:pPr>
            <a:r>
              <a:rPr lang="en-US" sz="1800" dirty="0">
                <a:solidFill>
                  <a:srgbClr val="E3E3DE"/>
                </a:solidFill>
                <a:latin typeface="Barlow" pitchFamily="34" charset="0"/>
                <a:ea typeface="Barlow" pitchFamily="34" charset="-122"/>
                <a:cs typeface="Barlow" pitchFamily="34" charset="-120"/>
              </a:rPr>
              <a:t>student3: </a:t>
            </a:r>
            <a:pPr algn="l" indent="0" marL="0">
              <a:lnSpc>
                <a:spcPct val="117000"/>
              </a:lnSpc>
              <a:buNone/>
            </a:pPr>
            <a:r>
              <a:rPr lang="en-US" sz="1800" b="1" u="sng" dirty="0">
                <a:solidFill>
                  <a:srgbClr val="FFC20E"/>
                </a:solidFill>
                <a:latin typeface="Barlow Bold" pitchFamily="34" charset="0"/>
                <a:ea typeface="Barlow Bold" pitchFamily="34" charset="-122"/>
                <a:cs typeface="Barlow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https://github.com/arigalavaibhav-stack</a:t>
            </a:r>
            <a:endParaRPr lang="en-US" sz="1800" dirty="0"/>
          </a:p>
        </p:txBody>
      </p:sp>
      <p:sp>
        <p:nvSpPr>
          <p:cNvPr id="4" name="Shape 2"/>
          <p:cNvSpPr/>
          <p:nvPr/>
        </p:nvSpPr>
        <p:spPr>
          <a:xfrm>
            <a:off x="5434472" y="887115"/>
            <a:ext cx="6757124" cy="5608638"/>
          </a:xfrm>
          <a:prstGeom prst="rect">
            <a:avLst/>
          </a:prstGeom>
          <a:noFill/>
          <a:ln w="50799">
            <a:solidFill>
              <a:srgbClr val="FFC20E"/>
            </a:solidFill>
            <a:prstDash val="solid"/>
          </a:ln>
        </p:spPr>
      </p:sp>
      <p:pic>
        <p:nvPicPr>
          <p:cNvPr id="5" name="Image 0" descr="preencoded.png">    </p:cNvPr>
          <p:cNvPicPr>
            <a:picLocks noChangeAspect="1"/>
          </p:cNvPicPr>
          <p:nvPr/>
        </p:nvPicPr>
        <p:blipFill>
          <a:blip r:embed="rId4"/>
          <a:stretch>
            <a:fillRect/>
          </a:stretch>
        </p:blipFill>
        <p:spPr>
          <a:xfrm>
            <a:off x="5485271" y="937915"/>
            <a:ext cx="6655526" cy="55070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7721407" cy="6858000"/>
          </a:xfrm>
          <a:prstGeom prst="roundRect">
            <a:avLst>
              <a:gd name="adj" fmla="val 3200"/>
            </a:avLst>
          </a:prstGeom>
          <a:solidFill>
            <a:srgbClr val="1F242B"/>
          </a:solidFill>
          <a:ln w="19050">
            <a:solidFill>
              <a:srgbClr val="FFC20E"/>
            </a:solidFill>
            <a:prstDash val="solid"/>
          </a:ln>
        </p:spPr>
      </p:sp>
      <p:sp>
        <p:nvSpPr>
          <p:cNvPr id="3" name="Text 1"/>
          <p:cNvSpPr/>
          <p:nvPr/>
        </p:nvSpPr>
        <p:spPr>
          <a:xfrm>
            <a:off x="527037" y="1775877"/>
            <a:ext cx="7194370" cy="231080"/>
          </a:xfrm>
          <a:prstGeom prst="rect">
            <a:avLst/>
          </a:prstGeom>
          <a:noFill/>
          <a:ln/>
        </p:spPr>
        <p:txBody>
          <a:bodyPr wrap="none" lIns="0" tIns="0" rIns="0" bIns="0" rtlCol="0" anchor="t"/>
          <a:lstStyle/>
          <a:p>
            <a:pPr algn="l" indent="0" marL="0">
              <a:lnSpc>
                <a:spcPct val="117000"/>
              </a:lnSpc>
              <a:buNone/>
            </a:pPr>
            <a:r>
              <a:rPr lang="en-US" sz="1300" spc="182" kern="100" dirty="0">
                <a:solidFill>
                  <a:srgbClr val="E3E3DE"/>
                </a:solidFill>
                <a:latin typeface="Barlow" pitchFamily="34" charset="0"/>
                <a:ea typeface="Barlow" pitchFamily="34" charset="-122"/>
                <a:cs typeface="Barlow" pitchFamily="34" charset="-120"/>
              </a:rPr>
              <a:t>PROJECT COMPLETE</a:t>
            </a:r>
            <a:endParaRPr lang="en-US" sz="1300" dirty="0"/>
          </a:p>
        </p:txBody>
      </p:sp>
      <p:sp>
        <p:nvSpPr>
          <p:cNvPr id="4" name="Text 2"/>
          <p:cNvSpPr/>
          <p:nvPr/>
        </p:nvSpPr>
        <p:spPr>
          <a:xfrm>
            <a:off x="527037" y="2171105"/>
            <a:ext cx="6667333" cy="863600"/>
          </a:xfrm>
          <a:prstGeom prst="rect">
            <a:avLst/>
          </a:prstGeom>
          <a:noFill/>
          <a:ln/>
        </p:spPr>
        <p:txBody>
          <a:bodyPr wrap="none" lIns="0" tIns="0" rIns="0" bIns="0" rtlCol="0" anchor="t"/>
          <a:lstStyle/>
          <a:p>
            <a:pPr algn="l" indent="0" marL="0">
              <a:lnSpc>
                <a:spcPct val="83000"/>
              </a:lnSpc>
              <a:buNone/>
            </a:pPr>
            <a:r>
              <a:rPr lang="en-US" sz="6800" spc="272" kern="100" dirty="0">
                <a:solidFill>
                  <a:srgbClr val="E3E3DE"/>
                </a:solidFill>
                <a:latin typeface="Bebas Neue" pitchFamily="34" charset="0"/>
                <a:ea typeface="Bebas Neue" pitchFamily="34" charset="-122"/>
                <a:cs typeface="Bebas Neue" pitchFamily="34" charset="-120"/>
              </a:rPr>
              <a:t>READY FOR THE ROAD</a:t>
            </a:r>
            <a:endParaRPr lang="en-US" sz="6800" dirty="0"/>
          </a:p>
        </p:txBody>
      </p:sp>
      <p:sp>
        <p:nvSpPr>
          <p:cNvPr id="5" name="Shape 3"/>
          <p:cNvSpPr/>
          <p:nvPr/>
        </p:nvSpPr>
        <p:spPr>
          <a:xfrm>
            <a:off x="527037" y="3217267"/>
            <a:ext cx="6667333" cy="25400"/>
          </a:xfrm>
          <a:prstGeom prst="rect">
            <a:avLst/>
          </a:prstGeom>
          <a:solidFill>
            <a:srgbClr val="FFC20E"/>
          </a:solidFill>
          <a:ln/>
        </p:spPr>
      </p:sp>
      <p:sp>
        <p:nvSpPr>
          <p:cNvPr id="6" name="Shape 4"/>
          <p:cNvSpPr/>
          <p:nvPr/>
        </p:nvSpPr>
        <p:spPr>
          <a:xfrm>
            <a:off x="527037" y="3298230"/>
            <a:ext cx="6667333" cy="31651"/>
          </a:xfrm>
          <a:prstGeom prst="roundRect">
            <a:avLst>
              <a:gd name="adj" fmla="val 49998"/>
            </a:avLst>
          </a:prstGeom>
          <a:solidFill>
            <a:srgbClr val="9BA3AF"/>
          </a:solidFill>
          <a:ln/>
        </p:spPr>
      </p:sp>
      <p:sp>
        <p:nvSpPr>
          <p:cNvPr id="7" name="Text 5"/>
          <p:cNvSpPr/>
          <p:nvPr/>
        </p:nvSpPr>
        <p:spPr>
          <a:xfrm>
            <a:off x="527037" y="3549372"/>
            <a:ext cx="6667333" cy="746720"/>
          </a:xfrm>
          <a:prstGeom prst="rect">
            <a:avLst/>
          </a:prstGeom>
          <a:noFill/>
          <a:ln/>
        </p:spPr>
        <p:txBody>
          <a:bodyPr wrap="square" lIns="0" tIns="0" rIns="0" bIns="0" rtlCol="0" anchor="t">
            <a:normAutofit/>
          </a:bodyPr>
          <a:lstStyle/>
          <a:p>
            <a:pPr algn="l" indent="0" marL="0">
              <a:lnSpc>
                <a:spcPct val="117000"/>
              </a:lnSpc>
              <a:buNone/>
            </a:pPr>
            <a:r>
              <a:rPr lang="en-US" sz="2100" dirty="0">
                <a:solidFill>
                  <a:srgbClr val="E3E3DE"/>
                </a:solidFill>
                <a:latin typeface="Barlow" pitchFamily="34" charset="0"/>
                <a:ea typeface="Barlow" pitchFamily="34" charset="-122"/>
                <a:cs typeface="Barlow" pitchFamily="34" charset="-120"/>
              </a:rPr>
              <a:t>Six units synthesized into one robust, extensible fleet manager.</a:t>
            </a:r>
            <a:endParaRPr lang="en-US" sz="2100" dirty="0"/>
          </a:p>
        </p:txBody>
      </p:sp>
      <p:sp>
        <p:nvSpPr>
          <p:cNvPr id="8" name="Text 6"/>
          <p:cNvSpPr/>
          <p:nvPr/>
        </p:nvSpPr>
        <p:spPr>
          <a:xfrm>
            <a:off x="527037" y="4445961"/>
            <a:ext cx="6667333" cy="265410"/>
          </a:xfrm>
          <a:prstGeom prst="rect">
            <a:avLst/>
          </a:prstGeom>
          <a:noFill/>
          <a:ln/>
        </p:spPr>
        <p:txBody>
          <a:bodyPr wrap="none" lIns="0" tIns="0" rIns="0" bIns="0" rtlCol="0" anchor="t"/>
          <a:lstStyle/>
          <a:p>
            <a:pPr algn="l" indent="0" marL="0">
              <a:lnSpc>
                <a:spcPct val="79000"/>
              </a:lnSpc>
              <a:buNone/>
            </a:pPr>
            <a:r>
              <a:rPr lang="en-US" sz="2200" spc="88" kern="100" dirty="0">
                <a:solidFill>
                  <a:srgbClr val="E3E3DE"/>
                </a:solidFill>
                <a:latin typeface="Barlow SemiBold" pitchFamily="34" charset="0"/>
                <a:ea typeface="Barlow SemiBold" pitchFamily="34" charset="-122"/>
                <a:cs typeface="Barlow SemiBold" pitchFamily="34" charset="-120"/>
              </a:rPr>
              <a:t>Questions &amp; Live Code Demo</a:t>
            </a:r>
            <a:endParaRPr lang="en-US" sz="2200" dirty="0"/>
          </a:p>
        </p:txBody>
      </p:sp>
      <p:sp>
        <p:nvSpPr>
          <p:cNvPr id="9" name="Text 7"/>
          <p:cNvSpPr/>
          <p:nvPr/>
        </p:nvSpPr>
        <p:spPr>
          <a:xfrm>
            <a:off x="527037" y="4851380"/>
            <a:ext cx="7194370" cy="248841"/>
          </a:xfrm>
          <a:prstGeom prst="rect">
            <a:avLst/>
          </a:prstGeom>
          <a:noFill/>
          <a:ln/>
        </p:spPr>
        <p:txBody>
          <a:bodyPr wrap="none" lIns="0" tIns="0" rIns="0" bIns="0" rtlCol="0" anchor="t"/>
          <a:lstStyle/>
          <a:p>
            <a:pPr algn="l" indent="0" marL="0">
              <a:lnSpc>
                <a:spcPct val="117000"/>
              </a:lnSpc>
              <a:buNone/>
            </a:pPr>
            <a:r>
              <a:rPr lang="en-US" sz="1400" dirty="0">
                <a:solidFill>
                  <a:srgbClr val="E3E3DE"/>
                </a:solidFill>
                <a:latin typeface="Barlow" pitchFamily="34" charset="0"/>
                <a:ea typeface="Barlow" pitchFamily="34" charset="-122"/>
                <a:cs typeface="Barlow" pitchFamily="34" charset="-120"/>
              </a:rPr>
              <a:t>GitHub repository and Javadoc documentation available upon request.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FC20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2026-10-16T06:15:05Z</dcterms:created>
  <dcterms:modified xsi:type="dcterms:W3CDTF">2026-10-16T06:15:05Z</dcterms:modified>
</cp:coreProperties>
</file>